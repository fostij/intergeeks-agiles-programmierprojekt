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jpeg" ContentType="image/jpe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Folie mittels Klicken verschieben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1AB36CE-D828-4080-80A7-4D447A2C33B9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F9D3CF-0119-4118-8BCC-1A0B336318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210C91-216F-4971-97AD-458FCAD8DB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08D9FA-D199-44A8-AC5C-F8F2D216E1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7A5A30-9A1B-418D-9D8C-23D0C773DF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7D1089-7556-479B-A401-CEA71B4F31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C1176E-77A7-4382-B554-56E9CE4573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EB517-2DF4-4161-B6BE-252D8E15B0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18F2E9-3DDA-40DB-A533-7BCBEDE298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95B990-72D8-4E10-913A-00E5D9727F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B796A5-B8FB-494D-8686-328DC818FC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5FE219-CA15-4D33-8108-B162719342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2F505E-8A43-428C-B25F-81030B5FD1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4093EF-AE4A-44AD-B7A5-71A1FE2F94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AB6124-4ABF-4D5F-BECA-50710839DB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C7C5A4-372E-42BC-81DF-AD813002EA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391086-36DB-4979-90C1-0477B81E05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5EE5D2-E7E9-4AB4-8C76-F6FDFA21B7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ECE962-8F93-4FB8-A720-EAB6BC9493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17920" y="-1645920"/>
            <a:ext cx="5481360" cy="5481360"/>
          </a:xfrm>
          <a:prstGeom prst="ellipse">
            <a:avLst/>
          </a:prstGeom>
          <a:solidFill>
            <a:srgbClr val="152e4a"/>
          </a:solidFill>
          <a:ln w="12700">
            <a:solidFill>
              <a:srgbClr val="15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132320" y="-914400"/>
            <a:ext cx="3652560" cy="3652560"/>
          </a:xfrm>
          <a:prstGeom prst="ellipse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371600" y="3840480"/>
            <a:ext cx="3195360" cy="3195360"/>
          </a:xfrm>
          <a:prstGeom prst="ellipse">
            <a:avLst/>
          </a:prstGeom>
          <a:solidFill>
            <a:srgbClr val="152e4a"/>
          </a:solidFill>
          <a:ln w="12700">
            <a:solidFill>
              <a:srgbClr val="15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02920" y="640080"/>
            <a:ext cx="1000800" cy="1000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729360" y="8665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3" name="Text 4"/>
          <p:cNvSpPr/>
          <p:nvPr/>
        </p:nvSpPr>
        <p:spPr>
          <a:xfrm>
            <a:off x="502920" y="1783080"/>
            <a:ext cx="804168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KFZ-Schadenprognose</a:t>
            </a:r>
            <a:endParaRPr b="0" lang="de-DE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02920" y="2743200"/>
            <a:ext cx="776736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Automatisierte Kostenschätzung durch NLP und Machine Learning</a:t>
            </a:r>
            <a:endParaRPr b="0" lang="de-DE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502920" y="3520440"/>
            <a:ext cx="7767360" cy="13320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02920" y="3657600"/>
            <a:ext cx="54813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Oleh Fostii  ·  Anton Dushchak  ·  Bernard Turikumana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502920" y="4096440"/>
            <a:ext cx="5481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InterGeeks  ·  Hochschule Hannover  ·  2026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Projektübersicht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65760" y="1005840"/>
            <a:ext cx="840744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5e"/>
                </a:solidFill>
                <a:latin typeface="Calibri"/>
                <a:ea typeface="Calibri"/>
              </a:rPr>
              <a:t>Ziel: Automatisierte Schadensbewertung bei KFZ-Versicherungen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274320" y="1481400"/>
            <a:ext cx="2692440" cy="15037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274320" y="1481400"/>
            <a:ext cx="2692440" cy="379080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274320" y="1710000"/>
            <a:ext cx="2692440" cy="150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1" descr="preencoded.png"/>
          <p:cNvPicPr/>
          <p:nvPr/>
        </p:nvPicPr>
        <p:blipFill>
          <a:blip r:embed="rId2"/>
          <a:stretch/>
        </p:blipFill>
        <p:spPr>
          <a:xfrm>
            <a:off x="384120" y="154548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28" name="Text 8"/>
          <p:cNvSpPr/>
          <p:nvPr/>
        </p:nvSpPr>
        <p:spPr>
          <a:xfrm>
            <a:off x="685800" y="1481400"/>
            <a:ext cx="21895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Multi-Head-Klassifikator (GottBERT) 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384120" y="1920240"/>
            <a:ext cx="24728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Rekonstruiert strukturierte Schadensfelder aus einer Freitextbeschreibung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3154680" y="1481400"/>
            <a:ext cx="2692440" cy="15037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3154680" y="1481400"/>
            <a:ext cx="2692440" cy="379080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154680" y="1710000"/>
            <a:ext cx="2692440" cy="150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3264480" y="154548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34" name="Text 13"/>
          <p:cNvSpPr/>
          <p:nvPr/>
        </p:nvSpPr>
        <p:spPr>
          <a:xfrm>
            <a:off x="3566160" y="1481400"/>
            <a:ext cx="21895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CNN Bildanalyse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3264480" y="1920240"/>
            <a:ext cx="24728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Bestimmt Schadensschwere aus einem Foto (3 Klassen)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6035040" y="1481400"/>
            <a:ext cx="2692440" cy="15037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6"/>
          <p:cNvSpPr/>
          <p:nvPr/>
        </p:nvSpPr>
        <p:spPr>
          <a:xfrm>
            <a:off x="6035040" y="1481400"/>
            <a:ext cx="2692440" cy="379080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6035040" y="1710000"/>
            <a:ext cx="2692440" cy="150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3" descr="preencoded.png"/>
          <p:cNvPicPr/>
          <p:nvPr/>
        </p:nvPicPr>
        <p:blipFill>
          <a:blip r:embed="rId4"/>
          <a:stretch/>
        </p:blipFill>
        <p:spPr>
          <a:xfrm>
            <a:off x="6144840" y="154548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40" name="Text 18"/>
          <p:cNvSpPr/>
          <p:nvPr/>
        </p:nvSpPr>
        <p:spPr>
          <a:xfrm>
            <a:off x="6446520" y="1481400"/>
            <a:ext cx="21895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Regressionsmodell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6144840" y="1920240"/>
            <a:ext cx="24728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Schätzt Reparaturkosten aus den extrahierten Feldern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274320" y="3127320"/>
            <a:ext cx="36525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Zielvariable: vehicle_claim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274320" y="3547800"/>
            <a:ext cx="27381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Drei Einstiegspunkte: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274320" y="3913560"/>
            <a:ext cx="452160" cy="4521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 4" descr="preencoded.png"/>
          <p:cNvPicPr/>
          <p:nvPr/>
        </p:nvPicPr>
        <p:blipFill>
          <a:blip r:embed="rId5"/>
          <a:stretch/>
        </p:blipFill>
        <p:spPr>
          <a:xfrm>
            <a:off x="377280" y="401652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6" name="Text 23"/>
          <p:cNvSpPr/>
          <p:nvPr/>
        </p:nvSpPr>
        <p:spPr>
          <a:xfrm>
            <a:off x="822960" y="3913560"/>
            <a:ext cx="16408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CLI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2560320" y="3913560"/>
            <a:ext cx="452160" cy="4521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Image 5" descr="preencoded.png"/>
          <p:cNvPicPr/>
          <p:nvPr/>
        </p:nvPicPr>
        <p:blipFill>
          <a:blip r:embed="rId6"/>
          <a:stretch/>
        </p:blipFill>
        <p:spPr>
          <a:xfrm>
            <a:off x="2663280" y="401652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9" name="Text 25"/>
          <p:cNvSpPr/>
          <p:nvPr/>
        </p:nvSpPr>
        <p:spPr>
          <a:xfrm>
            <a:off x="3108960" y="3913560"/>
            <a:ext cx="16408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E-Mail-Worker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6"/>
          <p:cNvSpPr/>
          <p:nvPr/>
        </p:nvSpPr>
        <p:spPr>
          <a:xfrm>
            <a:off x="4846320" y="3913560"/>
            <a:ext cx="452160" cy="4521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6" descr="preencoded.png"/>
          <p:cNvPicPr/>
          <p:nvPr/>
        </p:nvPicPr>
        <p:blipFill>
          <a:blip r:embed="rId7"/>
          <a:stretch/>
        </p:blipFill>
        <p:spPr>
          <a:xfrm>
            <a:off x="4949280" y="401652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52" name="Text 27"/>
          <p:cNvSpPr/>
          <p:nvPr/>
        </p:nvSpPr>
        <p:spPr>
          <a:xfrm>
            <a:off x="5394960" y="3913560"/>
            <a:ext cx="16408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Web-Dashboard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Datensatz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74320" y="1051560"/>
            <a:ext cx="1915200" cy="1000800"/>
          </a:xfrm>
          <a:prstGeom prst="roundRect">
            <a:avLst>
              <a:gd name="adj" fmla="val 7273"/>
            </a:avLst>
          </a:prstGeom>
          <a:solidFill>
            <a:srgbClr val="3465a4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274320" y="1124640"/>
            <a:ext cx="1915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1.000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274320" y="1635120"/>
            <a:ext cx="1915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Einträge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2331720" y="1051560"/>
            <a:ext cx="1915200" cy="1000800"/>
          </a:xfrm>
          <a:prstGeom prst="roundRect">
            <a:avLst>
              <a:gd name="adj" fmla="val 7273"/>
            </a:avLst>
          </a:prstGeom>
          <a:solidFill>
            <a:srgbClr val="3465a4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2331720" y="1124640"/>
            <a:ext cx="1915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40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2331720" y="1635120"/>
            <a:ext cx="1915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Merkmale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4416120" y="1044000"/>
            <a:ext cx="2059200" cy="1000800"/>
          </a:xfrm>
          <a:prstGeom prst="roundRect">
            <a:avLst>
              <a:gd name="adj" fmla="val 7273"/>
            </a:avLst>
          </a:prstGeom>
          <a:solidFill>
            <a:srgbClr val="3465a4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4425120" y="1124640"/>
            <a:ext cx="2086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vehicle_claim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4497120" y="1707120"/>
            <a:ext cx="1915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Zielvariable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228600" y="2349720"/>
            <a:ext cx="3654000" cy="2509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502920" y="2331720"/>
            <a:ext cx="36525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Die 10 Eingabefelder des Modells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415080" y="2705040"/>
            <a:ext cx="118152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475560" y="268884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incident_severity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411480" y="3127680"/>
            <a:ext cx="118512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475560" y="312768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auto_make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21"/>
          <p:cNvSpPr/>
          <p:nvPr/>
        </p:nvSpPr>
        <p:spPr>
          <a:xfrm>
            <a:off x="411480" y="3566880"/>
            <a:ext cx="118512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475560" y="356688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auto_year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411480" y="4005720"/>
            <a:ext cx="118512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475560" y="4005720"/>
            <a:ext cx="11210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incident_type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274320" y="4826880"/>
            <a:ext cx="8590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⚠  </a:t>
            </a: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Ausschließlich Testdaten — keine realen Kundendaten. Beträge aus US-Datensatz als EUR-Testwerte.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0"/>
          <p:cNvSpPr/>
          <p:nvPr/>
        </p:nvSpPr>
        <p:spPr>
          <a:xfrm>
            <a:off x="1792800" y="2707200"/>
            <a:ext cx="140400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1849680" y="268884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collision_type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34"/>
          <p:cNvSpPr/>
          <p:nvPr/>
        </p:nvSpPr>
        <p:spPr>
          <a:xfrm>
            <a:off x="1792800" y="4436280"/>
            <a:ext cx="186120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8"/>
          <p:cNvSpPr/>
          <p:nvPr/>
        </p:nvSpPr>
        <p:spPr>
          <a:xfrm>
            <a:off x="1849680" y="443628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number_of_vehicles_involved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7"/>
          <p:cNvSpPr/>
          <p:nvPr/>
        </p:nvSpPr>
        <p:spPr>
          <a:xfrm>
            <a:off x="1792800" y="3566880"/>
            <a:ext cx="140400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8"/>
          <p:cNvSpPr/>
          <p:nvPr/>
        </p:nvSpPr>
        <p:spPr>
          <a:xfrm>
            <a:off x="1792800" y="4001040"/>
            <a:ext cx="140400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40"/>
          <p:cNvSpPr/>
          <p:nvPr/>
        </p:nvSpPr>
        <p:spPr>
          <a:xfrm>
            <a:off x="1864800" y="400104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police_report_available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1"/>
          <p:cNvSpPr/>
          <p:nvPr/>
        </p:nvSpPr>
        <p:spPr>
          <a:xfrm>
            <a:off x="1864800" y="356760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witnesses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9"/>
          <p:cNvSpPr/>
          <p:nvPr/>
        </p:nvSpPr>
        <p:spPr>
          <a:xfrm>
            <a:off x="421200" y="4436280"/>
            <a:ext cx="117540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78080" y="443628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bodily_injuries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40"/>
          <p:cNvSpPr/>
          <p:nvPr/>
        </p:nvSpPr>
        <p:spPr>
          <a:xfrm>
            <a:off x="1792800" y="3127680"/>
            <a:ext cx="1404000" cy="31500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1849680" y="3127680"/>
            <a:ext cx="2189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property_damage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41"/>
          <p:cNvSpPr/>
          <p:nvPr/>
        </p:nvSpPr>
        <p:spPr>
          <a:xfrm>
            <a:off x="4114800" y="2350080"/>
            <a:ext cx="4797000" cy="176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Problem</a:t>
            </a:r>
            <a:r>
              <a:rPr b="0" lang="de-DE" sz="1200" spc="-1" strike="noStrike">
                <a:solidFill>
                  <a:srgbClr val="000000"/>
                </a:solidFill>
                <a:latin typeface="Arial"/>
                <a:ea typeface="Microsoft YaHei"/>
              </a:rPr>
              <a:t>: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  </a:t>
            </a: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Enthält nur strukturierte Felder, aber keinen für das Sprachmodell benötigten Freitext.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Lösung: 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  </a:t>
            </a:r>
            <a:r>
              <a:rPr b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Der entwickelte AccidentDescriptionGenerator transformiert Datensatzzeilen in               natürliche deutsche Unfallbeschreibungen.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42"/>
          <p:cNvSpPr/>
          <p:nvPr/>
        </p:nvSpPr>
        <p:spPr>
          <a:xfrm>
            <a:off x="6629400" y="1044000"/>
            <a:ext cx="2282400" cy="1000800"/>
          </a:xfrm>
          <a:prstGeom prst="roundRect">
            <a:avLst>
              <a:gd name="adj" fmla="val 7273"/>
            </a:avLst>
          </a:prstGeom>
          <a:solidFill>
            <a:srgbClr val="ed4c05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750000" y="1071000"/>
            <a:ext cx="203976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Accident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Description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 rot="2787600">
            <a:off x="6714000" y="1139760"/>
            <a:ext cx="225000" cy="225000"/>
          </a:xfrm>
          <a:prstGeom prst="plus">
            <a:avLst>
              <a:gd name="adj" fmla="val 25000"/>
            </a:avLst>
          </a:prstGeom>
          <a:solidFill>
            <a:srgbClr val="729fcf">
              <a:alpha val="30000"/>
            </a:srgbClr>
          </a:solidFill>
          <a:ln w="64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Datenbereinigung — ETL-Prozess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201240" y="1005840"/>
            <a:ext cx="2829600" cy="3744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201240" y="1005840"/>
            <a:ext cx="2829600" cy="497880"/>
          </a:xfrm>
          <a:prstGeom prst="roundRect">
            <a:avLst>
              <a:gd name="adj" fmla="val 14545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201240" y="1298520"/>
            <a:ext cx="2829600" cy="2052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292680" y="1005840"/>
            <a:ext cx="4064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704160" y="1005840"/>
            <a:ext cx="21895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EXTRACT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311040" y="1600200"/>
            <a:ext cx="2610000" cy="30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Rohdaten aus dataset.csv einlesen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3035520" y="2880360"/>
            <a:ext cx="137160" cy="36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-44640" bIns="-4464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3173040" y="1005840"/>
            <a:ext cx="2829600" cy="3744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3173040" y="1005840"/>
            <a:ext cx="2829600" cy="49788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3173040" y="1298520"/>
            <a:ext cx="2829600" cy="205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3264480" y="1005840"/>
            <a:ext cx="4064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3675960" y="1005840"/>
            <a:ext cx="21895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TRANSFORM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3282840" y="1600200"/>
            <a:ext cx="2610000" cy="30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"?" → NaN ersetzen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Leerspalte _c39 entfernen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Datumsfelder in Date-Objekte umwandeln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Y/N → True/False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Dezimaltrennzeichen bei Prämienfeldern korrigieren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Fortlaufende ID als gemeinsamen Schlüssel erzeugen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7"/>
          <p:cNvSpPr/>
          <p:nvPr/>
        </p:nvSpPr>
        <p:spPr>
          <a:xfrm>
            <a:off x="6007320" y="2880360"/>
            <a:ext cx="137160" cy="36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-44640" bIns="-4464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6144840" y="1005840"/>
            <a:ext cx="2829600" cy="3744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6144840" y="1005840"/>
            <a:ext cx="2829600" cy="49788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>
            <a:off x="6144840" y="1298520"/>
            <a:ext cx="2829600" cy="205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6236280" y="1005840"/>
            <a:ext cx="4064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6647760" y="1005840"/>
            <a:ext cx="21895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LOAD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6254640" y="1600200"/>
            <a:ext cx="2610000" cy="30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Schema anlegen (schema.sql)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Flache CSV → 5 normalisierte Tabellen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kunden · policen · fahrzeuge · unfaelle · schaeden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Calibri"/>
              </a:rPr>
              <a:t>Verifikation via JOIN über alle 5 Tabellen</a:t>
            </a:r>
            <a:endParaRPr b="0" lang="de-DE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122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Deskriptive Statistik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274320" y="1093320"/>
            <a:ext cx="1915200" cy="703800"/>
          </a:xfrm>
          <a:prstGeom prst="roundRect">
            <a:avLst>
              <a:gd name="adj" fmla="val 7619"/>
            </a:avLst>
          </a:prstGeom>
          <a:solidFill>
            <a:srgbClr val="1a3c5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274320" y="1058400"/>
            <a:ext cx="19152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37.929 €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274320" y="1506240"/>
            <a:ext cx="191520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Mittelwert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277920" y="1944000"/>
            <a:ext cx="1915200" cy="573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279720" y="1850400"/>
            <a:ext cx="19152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42.100 €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279720" y="2262240"/>
            <a:ext cx="191520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Median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277920" y="2700000"/>
            <a:ext cx="1915200" cy="537120"/>
          </a:xfrm>
          <a:prstGeom prst="roundRect">
            <a:avLst>
              <a:gd name="adj" fmla="val 7619"/>
            </a:avLst>
          </a:prstGeom>
          <a:solidFill>
            <a:srgbClr val="10b981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277920" y="2624760"/>
            <a:ext cx="19152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18.886 €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277920" y="3021480"/>
            <a:ext cx="191520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Standardabweichung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274320" y="3429000"/>
            <a:ext cx="8590320" cy="132084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457200" y="3931920"/>
            <a:ext cx="18237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3229200" y="3702240"/>
            <a:ext cx="46436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collision_type enthält “?” bei Vehicle Theft und Parked Car — kein Datenfehler, sondern strukturell bedingt: ohne Kollision gibt es keinen Kollisionstyp.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Diese Fälle werden als eigene Kategorie NotApplicable kodiert, nicht imputiert.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2844000" y="1023480"/>
            <a:ext cx="3996000" cy="224676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457200" y="3657600"/>
            <a:ext cx="2974320" cy="75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0"/>
          <p:cNvSpPr/>
          <p:nvPr/>
        </p:nvSpPr>
        <p:spPr>
          <a:xfrm>
            <a:off x="0" y="0"/>
            <a:ext cx="9140760" cy="9111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Oval 1"/>
          <p:cNvSpPr/>
          <p:nvPr/>
        </p:nvSpPr>
        <p:spPr>
          <a:xfrm>
            <a:off x="228600" y="164520"/>
            <a:ext cx="563760" cy="563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842040" y="216000"/>
            <a:ext cx="2532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ffffff"/>
                </a:solidFill>
                <a:latin typeface="Calibri"/>
              </a:rPr>
              <a:t>Bimodale Verteilung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3"/>
          <p:cNvSpPr/>
          <p:nvPr/>
        </p:nvSpPr>
        <p:spPr>
          <a:xfrm>
            <a:off x="0" y="5029200"/>
            <a:ext cx="9140760" cy="106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274320" y="1051560"/>
            <a:ext cx="8592120" cy="136836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457200" y="1097280"/>
            <a:ext cx="822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1e293b"/>
                </a:solidFill>
                <a:latin typeface="Calibri"/>
              </a:rPr>
              <a:t>Bimodale Verteilung von vehicle_claim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457200" y="1444680"/>
            <a:ext cx="8226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Die Zielvariable zeigt zwei klar getrennte Gruppen — kein Datenfehler, sondern zwei fundamental verschiedene Schadensszenarien.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457200" y="1783080"/>
            <a:ext cx="8226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de-DE" sz="1100" spc="-1" strike="noStrike">
                <a:solidFill>
                  <a:srgbClr val="64748b"/>
                </a:solidFill>
                <a:latin typeface="Calibri"/>
              </a:rPr>
              <a:t>Diese Struktur erklärt, warum R² ≈ 0,70 die praktische Obergrenze darstellt.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274320" y="2606040"/>
            <a:ext cx="4157280" cy="2145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ectangle 9"/>
          <p:cNvSpPr/>
          <p:nvPr/>
        </p:nvSpPr>
        <p:spPr>
          <a:xfrm>
            <a:off x="274320" y="2606040"/>
            <a:ext cx="4157280" cy="4082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1450800" y="2606040"/>
            <a:ext cx="185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1200" spc="-1" strike="noStrike">
                <a:solidFill>
                  <a:srgbClr val="ffffff"/>
                </a:solidFill>
                <a:latin typeface="Calibri"/>
              </a:rPr>
              <a:t>Gruppe 1 — Kollisionsfälle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1"/>
          <p:cNvSpPr/>
          <p:nvPr/>
        </p:nvSpPr>
        <p:spPr>
          <a:xfrm>
            <a:off x="411480" y="3081600"/>
            <a:ext cx="392868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Typischer Bereich: ~44.000–46.000 €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Unfalltypen: Front-, Seiten-,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Mehrfahrzeugkollision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Hoher Schaden durch Karosserie-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und Strukturschäden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12"/>
          <p:cNvSpPr/>
          <p:nvPr/>
        </p:nvSpPr>
        <p:spPr>
          <a:xfrm>
            <a:off x="4617720" y="2606040"/>
            <a:ext cx="4157280" cy="2145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ectangle 13"/>
          <p:cNvSpPr/>
          <p:nvPr/>
        </p:nvSpPr>
        <p:spPr>
          <a:xfrm>
            <a:off x="4617720" y="2606040"/>
            <a:ext cx="4157280" cy="408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5524560" y="2606040"/>
            <a:ext cx="2389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1200" spc="-1" strike="noStrike">
                <a:solidFill>
                  <a:srgbClr val="ffffff"/>
                </a:solidFill>
                <a:latin typeface="Calibri"/>
              </a:rPr>
              <a:t>Gruppe 2 — Diebstahl / Parked Car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15"/>
          <p:cNvSpPr/>
          <p:nvPr/>
        </p:nvSpPr>
        <p:spPr>
          <a:xfrm>
            <a:off x="4754880" y="3081600"/>
            <a:ext cx="392868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Typischer Bereich: ~3.800–4.000 €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Unfalltypen: Vehicle Theft,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Parked Car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Deutlich niedrigerer Schaden —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kein Kollisionsschaden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6"/>
          <p:cNvSpPr/>
          <p:nvPr/>
        </p:nvSpPr>
        <p:spPr>
          <a:xfrm>
            <a:off x="274320" y="4846320"/>
            <a:ext cx="8592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de-DE" sz="1000" spc="-1" strike="noStrike">
                <a:solidFill>
                  <a:srgbClr val="64748b"/>
                </a:solidFill>
                <a:latin typeface="Calibri"/>
              </a:rPr>
              <a:t>Mehr reale Trainingsdaten aus beiden Gruppen würden die Modellqualität erheblich verbessern.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158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Einflussanalyse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274320" y="1005840"/>
            <a:ext cx="410976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411480" y="1078920"/>
            <a:ext cx="3835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Univariat — Einzeleinfluss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411480" y="1389960"/>
            <a:ext cx="38354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Numerisch: Spearman-ρ  |  Kategorial: Eta²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411480" y="1783080"/>
            <a:ext cx="22809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total_claim_amount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2834640" y="1783080"/>
            <a:ext cx="13665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f4444"/>
                </a:solidFill>
                <a:latin typeface="Calibri"/>
                <a:ea typeface="Calibri"/>
              </a:rPr>
              <a:t>ρ = 0,96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411480" y="2084760"/>
            <a:ext cx="3561120" cy="177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411480" y="2084760"/>
            <a:ext cx="3418560" cy="17784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411480" y="2560320"/>
            <a:ext cx="22809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incident_type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2834640" y="2560320"/>
            <a:ext cx="13665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Eta² = 0,71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411480" y="2862000"/>
            <a:ext cx="3561120" cy="177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411480" y="2862000"/>
            <a:ext cx="2526840" cy="17784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411480" y="3337560"/>
            <a:ext cx="22809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property_claim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2834640" y="3337560"/>
            <a:ext cx="13665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0b981"/>
                </a:solidFill>
                <a:latin typeface="Calibri"/>
                <a:ea typeface="Calibri"/>
              </a:rPr>
              <a:t>ρ = 0,69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7"/>
          <p:cNvSpPr/>
          <p:nvPr/>
        </p:nvSpPr>
        <p:spPr>
          <a:xfrm>
            <a:off x="411480" y="3639240"/>
            <a:ext cx="3561120" cy="177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8"/>
          <p:cNvSpPr/>
          <p:nvPr/>
        </p:nvSpPr>
        <p:spPr>
          <a:xfrm>
            <a:off x="411480" y="3639240"/>
            <a:ext cx="2455560" cy="17784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9"/>
          <p:cNvSpPr/>
          <p:nvPr/>
        </p:nvSpPr>
        <p:spPr>
          <a:xfrm>
            <a:off x="4572000" y="1005840"/>
            <a:ext cx="429264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4709160" y="1078920"/>
            <a:ext cx="40183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Multivariat — Feature Importance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1"/>
          <p:cNvSpPr/>
          <p:nvPr/>
        </p:nvSpPr>
        <p:spPr>
          <a:xfrm>
            <a:off x="4663440" y="1463040"/>
            <a:ext cx="4109760" cy="100080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2"/>
          <p:cNvSpPr/>
          <p:nvPr/>
        </p:nvSpPr>
        <p:spPr>
          <a:xfrm>
            <a:off x="4773240" y="1508760"/>
            <a:ext cx="3835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⚠  </a:t>
            </a: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Leakage entdeckt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3"/>
          <p:cNvSpPr/>
          <p:nvPr/>
        </p:nvSpPr>
        <p:spPr>
          <a:xfrm>
            <a:off x="4773240" y="1801440"/>
            <a:ext cx="383544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total_claim_amount: 96,5 % Feature Importance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Direkte Summe der Teilschadenbeträge → ausgeschlossen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4"/>
          <p:cNvSpPr/>
          <p:nvPr/>
        </p:nvSpPr>
        <p:spPr>
          <a:xfrm>
            <a:off x="4709160" y="2606040"/>
            <a:ext cx="401832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Nach Ausschluss relevanteste Prädiktoren: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4709160" y="2907720"/>
            <a:ext cx="4018320" cy="8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incident_type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incident_severity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9"/>
          <p:cNvSpPr/>
          <p:nvPr/>
        </p:nvSpPr>
        <p:spPr>
          <a:xfrm>
            <a:off x="411480" y="3985560"/>
            <a:ext cx="22809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incident_severity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4"/>
          <p:cNvSpPr/>
          <p:nvPr/>
        </p:nvSpPr>
        <p:spPr>
          <a:xfrm>
            <a:off x="411480" y="4287240"/>
            <a:ext cx="3561120" cy="17784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5"/>
          <p:cNvSpPr/>
          <p:nvPr/>
        </p:nvSpPr>
        <p:spPr>
          <a:xfrm>
            <a:off x="411840" y="4287240"/>
            <a:ext cx="1415520" cy="17784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3"/>
          <p:cNvSpPr/>
          <p:nvPr/>
        </p:nvSpPr>
        <p:spPr>
          <a:xfrm>
            <a:off x="2834640" y="3985560"/>
            <a:ext cx="13665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0b981"/>
                </a:solidFill>
                <a:latin typeface="Calibri"/>
                <a:ea typeface="Calibri"/>
              </a:rPr>
              <a:t>ρ = 0,39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382680" y="1756800"/>
            <a:ext cx="3730680" cy="297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190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Zusammenhangsanalyse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274320" y="1005840"/>
            <a:ext cx="8590320" cy="11379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457200" y="1051560"/>
            <a:ext cx="54813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Zusammenhangsmaße je Variablentyp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457200" y="1371600"/>
            <a:ext cx="2098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Numerisch – Numerisch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57200" y="1627560"/>
            <a:ext cx="13665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Spearman-ρ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1828800" y="1627560"/>
            <a:ext cx="9093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−</a:t>
            </a: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1 … +1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3291840" y="1371600"/>
            <a:ext cx="2098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Kategorial – Kategorial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3291840" y="1627560"/>
            <a:ext cx="13665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Cramér's V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4663440" y="1627560"/>
            <a:ext cx="9093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0 … 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2"/>
          <p:cNvSpPr/>
          <p:nvPr/>
        </p:nvSpPr>
        <p:spPr>
          <a:xfrm>
            <a:off x="6126480" y="1371600"/>
            <a:ext cx="20980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Numerisch – Kategorial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6126480" y="1627560"/>
            <a:ext cx="13665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Eta²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7498080" y="1627560"/>
            <a:ext cx="9093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0 … 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5"/>
          <p:cNvSpPr/>
          <p:nvPr/>
        </p:nvSpPr>
        <p:spPr>
          <a:xfrm>
            <a:off x="274320" y="2331720"/>
            <a:ext cx="2692440" cy="23724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274320" y="2331720"/>
            <a:ext cx="2692440" cy="379080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7"/>
          <p:cNvSpPr/>
          <p:nvPr/>
        </p:nvSpPr>
        <p:spPr>
          <a:xfrm>
            <a:off x="274320" y="2560320"/>
            <a:ext cx="2692440" cy="150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411480" y="2331720"/>
            <a:ext cx="2463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Stärkste Korrelation (Leakage)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384120" y="2770560"/>
            <a:ext cx="247284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total_claim_amount ↔ vehicle_claim: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ρ = 0,98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Direkte arithmetische Abhängigkeit — ausgeschlossen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0"/>
          <p:cNvSpPr/>
          <p:nvPr/>
        </p:nvSpPr>
        <p:spPr>
          <a:xfrm>
            <a:off x="3154680" y="2331720"/>
            <a:ext cx="2692440" cy="23724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1"/>
          <p:cNvSpPr/>
          <p:nvPr/>
        </p:nvSpPr>
        <p:spPr>
          <a:xfrm>
            <a:off x="3154680" y="2331720"/>
            <a:ext cx="2692440" cy="37908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3154680" y="2560320"/>
            <a:ext cx="2692440" cy="15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3291840" y="2331720"/>
            <a:ext cx="2463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Strukturelle Abhängigkeit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4"/>
          <p:cNvSpPr/>
          <p:nvPr/>
        </p:nvSpPr>
        <p:spPr>
          <a:xfrm>
            <a:off x="3264480" y="2770560"/>
            <a:ext cx="247284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incident_type ↔ collision_type: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hohe Cramér's V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Multikollinearität — gemeinsame Modellnutzung kritisch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5"/>
          <p:cNvSpPr/>
          <p:nvPr/>
        </p:nvSpPr>
        <p:spPr>
          <a:xfrm>
            <a:off x="6035040" y="2331720"/>
            <a:ext cx="2692440" cy="23724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6"/>
          <p:cNvSpPr/>
          <p:nvPr/>
        </p:nvSpPr>
        <p:spPr>
          <a:xfrm>
            <a:off x="6035040" y="2331720"/>
            <a:ext cx="2692440" cy="379080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7"/>
          <p:cNvSpPr/>
          <p:nvPr/>
        </p:nvSpPr>
        <p:spPr>
          <a:xfrm>
            <a:off x="6035040" y="2560320"/>
            <a:ext cx="2692440" cy="15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8"/>
          <p:cNvSpPr/>
          <p:nvPr/>
        </p:nvSpPr>
        <p:spPr>
          <a:xfrm>
            <a:off x="6172200" y="2331720"/>
            <a:ext cx="2463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Visualisierungen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9"/>
          <p:cNvSpPr/>
          <p:nvPr/>
        </p:nvSpPr>
        <p:spPr>
          <a:xfrm>
            <a:off x="6144840" y="2770560"/>
            <a:ext cx="247284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Spearman-Heatmap (numerisch)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Cramér's V-Heatmap (kategorial)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Vollständige Korrelationsmatrix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3424680" y="445320"/>
            <a:ext cx="4675320" cy="4230000"/>
          </a:xfrm>
          <a:prstGeom prst="rect">
            <a:avLst/>
          </a:prstGeom>
          <a:ln w="0">
            <a:noFill/>
          </a:ln>
        </p:spPr>
      </p:pic>
      <p:sp>
        <p:nvSpPr>
          <p:cNvPr id="219" name="Rectangle 7"/>
          <p:cNvSpPr/>
          <p:nvPr/>
        </p:nvSpPr>
        <p:spPr>
          <a:xfrm>
            <a:off x="180000" y="3384000"/>
            <a:ext cx="432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0" lang="de-DE" sz="1800" spc="-1" strike="noStrike">
                <a:solidFill>
                  <a:srgbClr val="000000"/>
                </a:solidFill>
                <a:latin typeface="Calibri"/>
              </a:rPr>
              <a:t>incident_location – quasi-eindeutiger Identifikator</a:t>
            </a: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2961000" y="11880"/>
            <a:ext cx="5499000" cy="5028120"/>
          </a:xfrm>
          <a:prstGeom prst="rect">
            <a:avLst/>
          </a:prstGeom>
          <a:ln w="0">
            <a:noFill/>
          </a:ln>
        </p:spPr>
      </p:pic>
      <p:sp>
        <p:nvSpPr>
          <p:cNvPr id="221" name="Rectangle 10"/>
          <p:cNvSpPr/>
          <p:nvPr/>
        </p:nvSpPr>
        <p:spPr>
          <a:xfrm>
            <a:off x="180000" y="3960000"/>
            <a:ext cx="3420000" cy="864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0" lang="de-DE" sz="1800" spc="-1" strike="noStrike">
                <a:solidFill>
                  <a:srgbClr val="000000"/>
                </a:solidFill>
                <a:latin typeface="Calibri"/>
              </a:rPr>
              <a:t>months_as_customer und age - Multikollinearitat</a:t>
            </a: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225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Hypothesentest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274320" y="1005840"/>
            <a:ext cx="36525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Signifikanzniveau α = 0,05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274320" y="1371600"/>
            <a:ext cx="8590320" cy="1915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274320" y="1371600"/>
            <a:ext cx="159480" cy="191520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920" rIns="7992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48640" y="1417320"/>
            <a:ext cx="80416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5e"/>
                </a:solidFill>
                <a:latin typeface="Calibri"/>
                <a:ea typeface="Calibri"/>
              </a:rPr>
              <a:t>Test 1 — incident_severity → vehicle_claim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548640" y="1755720"/>
            <a:ext cx="548136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H₀: Der Schweregrad hat keinen Einfluss auf die Schadenhöhe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548640" y="2011680"/>
            <a:ext cx="80416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Voraussetzungsprüfung: Shapiro-Wilk + Levene → nicht normalverteilt → Kruskal-Wallis-Test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5943600" y="2331720"/>
            <a:ext cx="2738160" cy="77220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5989320" y="2359080"/>
            <a:ext cx="26467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5f46"/>
                </a:solidFill>
                <a:latin typeface="Calibri"/>
                <a:ea typeface="Calibri"/>
              </a:rPr>
              <a:t>H = 243,46  |  p &lt; 0,001  |  Eta² = 0,39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65f46"/>
                </a:solidFill>
                <a:latin typeface="Calibri"/>
                <a:ea typeface="Calibri"/>
              </a:rPr>
              <a:t>H₀ abgelehnt ✓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548640" y="2377440"/>
            <a:ext cx="52070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incident_severity hat hochsignifikanten Einfluss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3"/>
          <p:cNvSpPr/>
          <p:nvPr/>
        </p:nvSpPr>
        <p:spPr>
          <a:xfrm>
            <a:off x="274320" y="3429000"/>
            <a:ext cx="8590320" cy="6836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274320" y="3429000"/>
            <a:ext cx="159480" cy="683640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920" rIns="7992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548640" y="3606120"/>
            <a:ext cx="80416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Der Schweregrad des Unfalls erklärt allein fast 40 % der Unterschiede in der Schadenhöhe. </a:t>
            </a:r>
            <a:endParaRPr b="0" lang="de-DE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242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Multi-Head-Klassifikation (NLP)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274320" y="1005840"/>
            <a:ext cx="429732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411480" y="1078920"/>
            <a:ext cx="36525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Architektur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457200" y="1444680"/>
            <a:ext cx="1371240" cy="415440"/>
          </a:xfrm>
          <a:prstGeom prst="roundRect">
            <a:avLst>
              <a:gd name="adj" fmla="val 13043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541800" y="1444680"/>
            <a:ext cx="11930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Freitext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1143720" y="1865160"/>
            <a:ext cx="360" cy="20124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9"/>
          <p:cNvSpPr/>
          <p:nvPr/>
        </p:nvSpPr>
        <p:spPr>
          <a:xfrm>
            <a:off x="457200" y="2066400"/>
            <a:ext cx="1599840" cy="415440"/>
          </a:xfrm>
          <a:prstGeom prst="roundRect">
            <a:avLst>
              <a:gd name="adj" fmla="val 13043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457200" y="2066400"/>
            <a:ext cx="15998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gottbert-base (RoBERTa)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1143720" y="2486880"/>
            <a:ext cx="360" cy="20124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457200" y="2688480"/>
            <a:ext cx="1371240" cy="415440"/>
          </a:xfrm>
          <a:prstGeom prst="roundRect">
            <a:avLst>
              <a:gd name="adj" fmla="val 13043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457200" y="2688480"/>
            <a:ext cx="13712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Mean Pooling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4"/>
          <p:cNvSpPr/>
          <p:nvPr/>
        </p:nvSpPr>
        <p:spPr>
          <a:xfrm>
            <a:off x="1143720" y="3108960"/>
            <a:ext cx="360" cy="20088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457200" y="3310200"/>
            <a:ext cx="1599840" cy="415440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313200" y="3310200"/>
            <a:ext cx="18284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10 × Klassifikationskopf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7"/>
          <p:cNvSpPr/>
          <p:nvPr/>
        </p:nvSpPr>
        <p:spPr>
          <a:xfrm>
            <a:off x="1143720" y="3730680"/>
            <a:ext cx="360" cy="20124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457200" y="3931920"/>
            <a:ext cx="1371240" cy="415440"/>
          </a:xfrm>
          <a:prstGeom prst="roundRect">
            <a:avLst>
              <a:gd name="adj" fmla="val 13043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349200" y="3931920"/>
            <a:ext cx="15998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Strukturierte Schadensfelder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1"/>
          <p:cNvSpPr/>
          <p:nvPr/>
        </p:nvSpPr>
        <p:spPr>
          <a:xfrm>
            <a:off x="4709160" y="1078920"/>
            <a:ext cx="4018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2"/>
          <p:cNvSpPr/>
          <p:nvPr/>
        </p:nvSpPr>
        <p:spPr>
          <a:xfrm>
            <a:off x="4709160" y="1389960"/>
            <a:ext cx="260244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3"/>
          <p:cNvSpPr/>
          <p:nvPr/>
        </p:nvSpPr>
        <p:spPr>
          <a:xfrm>
            <a:off x="4680000" y="1035000"/>
            <a:ext cx="4292640" cy="137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   </a:t>
            </a: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Einschränkung &amp; Lösung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  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Das Modell benötigt mindestens 5.000 Trainingsbeispiele.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  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Da der Originaldatensatz nur 1.000 Zeilen und wenige Fahrzeugtypen                    enthielt, wurde er durch einen Fahrzeugkatalog erweitert und um                          synthetische Daten ergänzt. 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4"/>
          <p:cNvSpPr/>
          <p:nvPr/>
        </p:nvSpPr>
        <p:spPr>
          <a:xfrm>
            <a:off x="4700880" y="2415960"/>
            <a:ext cx="4018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5"/>
          <p:cNvSpPr/>
          <p:nvPr/>
        </p:nvSpPr>
        <p:spPr>
          <a:xfrm>
            <a:off x="4664880" y="2679480"/>
            <a:ext cx="4018320" cy="12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46"/>
          <p:cNvSpPr/>
          <p:nvPr/>
        </p:nvSpPr>
        <p:spPr>
          <a:xfrm>
            <a:off x="4680000" y="2514600"/>
            <a:ext cx="4292640" cy="91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   </a:t>
            </a: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vehicle_dataset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            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	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                            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year                   make                   model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einzigartige Werte                   34(1992-2026)            65                      &gt;1000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N = 11543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47"/>
          <p:cNvSpPr/>
          <p:nvPr/>
        </p:nvSpPr>
        <p:spPr>
          <a:xfrm>
            <a:off x="2478600" y="1373040"/>
            <a:ext cx="1599840" cy="415440"/>
          </a:xfrm>
          <a:prstGeom prst="roundRect">
            <a:avLst>
              <a:gd name="adj" fmla="val 13043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“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Mein Name ist Anton“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8"/>
          <p:cNvSpPr/>
          <p:nvPr/>
        </p:nvSpPr>
        <p:spPr>
          <a:xfrm>
            <a:off x="2286000" y="1922760"/>
            <a:ext cx="2057040" cy="676080"/>
          </a:xfrm>
          <a:prstGeom prst="roundRect">
            <a:avLst>
              <a:gd name="adj" fmla="val 13043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ffffff"/>
                </a:solidFill>
                <a:latin typeface="Arial"/>
              </a:rPr>
              <a:t>Mein -&gt; [-0.45, 0.83, 0.11, ..., 0.29 ]</a:t>
            </a:r>
            <a:endParaRPr b="0" lang="de-DE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ffffff"/>
                </a:solidFill>
                <a:latin typeface="Arial"/>
              </a:rPr>
              <a:t>Name -&gt; [ 0.77, -0.12, 0.43, ..., -0.51 ]</a:t>
            </a:r>
            <a:endParaRPr b="0" lang="de-DE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ffffff"/>
                </a:solidFill>
                <a:latin typeface="Arial"/>
              </a:rPr>
              <a:t>ist -&gt; [ 0.21, 0.55, -0.08, ..., 0.14 ]</a:t>
            </a:r>
            <a:endParaRPr b="0" lang="de-DE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ffffff"/>
                </a:solidFill>
                <a:latin typeface="Arial"/>
              </a:rPr>
              <a:t>Anton -&gt; [-0.66, 0.31, 0.92, ..., -0.23 ] </a:t>
            </a:r>
            <a:endParaRPr b="0" lang="de-DE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49"/>
          <p:cNvSpPr/>
          <p:nvPr/>
        </p:nvSpPr>
        <p:spPr>
          <a:xfrm>
            <a:off x="2286000" y="2671200"/>
            <a:ext cx="2057040" cy="415440"/>
          </a:xfrm>
          <a:prstGeom prst="roundRect">
            <a:avLst>
              <a:gd name="adj" fmla="val 13043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ffffff"/>
                </a:solidFill>
                <a:latin typeface="Arial"/>
              </a:rPr>
              <a:t>[0.28, -0.06, 0.41, -0.33, ..., 0.17] </a:t>
            </a:r>
            <a:endParaRPr b="0" lang="de-DE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50"/>
          <p:cNvSpPr/>
          <p:nvPr/>
        </p:nvSpPr>
        <p:spPr>
          <a:xfrm>
            <a:off x="2370600" y="3238560"/>
            <a:ext cx="1828440" cy="575280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Head_1 -&gt; Klasse 0 (97 %)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Head_2 -&gt; Klasse 1 (74 %)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... 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51"/>
          <p:cNvSpPr/>
          <p:nvPr/>
        </p:nvSpPr>
        <p:spPr>
          <a:xfrm>
            <a:off x="3284640" y="1721520"/>
            <a:ext cx="360" cy="20124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52"/>
          <p:cNvSpPr/>
          <p:nvPr/>
        </p:nvSpPr>
        <p:spPr>
          <a:xfrm>
            <a:off x="3285360" y="2599200"/>
            <a:ext cx="360" cy="7992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4920" bIns="3492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53"/>
          <p:cNvSpPr/>
          <p:nvPr/>
        </p:nvSpPr>
        <p:spPr>
          <a:xfrm>
            <a:off x="3285360" y="3087000"/>
            <a:ext cx="360" cy="13212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0"/>
          <p:cNvSpPr/>
          <p:nvPr/>
        </p:nvSpPr>
        <p:spPr>
          <a:xfrm>
            <a:off x="0" y="0"/>
            <a:ext cx="9141840" cy="91224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Oval 1"/>
          <p:cNvSpPr/>
          <p:nvPr/>
        </p:nvSpPr>
        <p:spPr>
          <a:xfrm>
            <a:off x="228600" y="164520"/>
            <a:ext cx="564840" cy="564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2"/>
          <p:cNvSpPr/>
          <p:nvPr/>
        </p:nvSpPr>
        <p:spPr>
          <a:xfrm>
            <a:off x="891000" y="216000"/>
            <a:ext cx="5191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Textgenerierung für das Multi-Head-Modell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3"/>
          <p:cNvSpPr/>
          <p:nvPr/>
        </p:nvSpPr>
        <p:spPr>
          <a:xfrm>
            <a:off x="0" y="5029200"/>
            <a:ext cx="9141840" cy="107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Rectangle 4"/>
          <p:cNvSpPr/>
          <p:nvPr/>
        </p:nvSpPr>
        <p:spPr>
          <a:xfrm>
            <a:off x="274320" y="987480"/>
            <a:ext cx="8593200" cy="912240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ectangle 5"/>
          <p:cNvSpPr/>
          <p:nvPr/>
        </p:nvSpPr>
        <p:spPr>
          <a:xfrm>
            <a:off x="274320" y="987480"/>
            <a:ext cx="162360" cy="912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360" rIns="8136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6"/>
          <p:cNvSpPr/>
          <p:nvPr/>
        </p:nvSpPr>
        <p:spPr>
          <a:xfrm>
            <a:off x="548640" y="1024200"/>
            <a:ext cx="822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</a:rPr>
              <a:t>Problem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548640" y="1316880"/>
            <a:ext cx="81360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Der Originaldatensatz enthält ausschließlich strukturierte Felder — keinen Freitext. Das Multi-Head-Modell benötigt aber deutschsprachige Unfallbeschreibungen zum Training.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ectangle 8"/>
          <p:cNvSpPr/>
          <p:nvPr/>
        </p:nvSpPr>
        <p:spPr>
          <a:xfrm>
            <a:off x="274320" y="2011680"/>
            <a:ext cx="8593200" cy="866520"/>
          </a:xfrm>
          <a:prstGeom prst="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Rectangle 9"/>
          <p:cNvSpPr/>
          <p:nvPr/>
        </p:nvSpPr>
        <p:spPr>
          <a:xfrm>
            <a:off x="274320" y="2011680"/>
            <a:ext cx="162360" cy="866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360" rIns="8136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10"/>
          <p:cNvSpPr/>
          <p:nvPr/>
        </p:nvSpPr>
        <p:spPr>
          <a:xfrm>
            <a:off x="548640" y="2048400"/>
            <a:ext cx="822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</a:rPr>
              <a:t>Lösung — AccidentDescriptionGenerator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11"/>
          <p:cNvSpPr/>
          <p:nvPr/>
        </p:nvSpPr>
        <p:spPr>
          <a:xfrm>
            <a:off x="548640" y="2340720"/>
            <a:ext cx="81360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Transformiert jede Datensatzzeile automatisch in eine natürliche deutsche Unfallbeschreibung inklusive der zugehörigen Labels für alle 10 Zielfelder.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ctangle 12"/>
          <p:cNvSpPr/>
          <p:nvPr/>
        </p:nvSpPr>
        <p:spPr>
          <a:xfrm>
            <a:off x="274320" y="2999160"/>
            <a:ext cx="2009520" cy="1716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ectangle 13"/>
          <p:cNvSpPr/>
          <p:nvPr/>
        </p:nvSpPr>
        <p:spPr>
          <a:xfrm>
            <a:off x="274320" y="2999160"/>
            <a:ext cx="2009520" cy="3819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14"/>
          <p:cNvSpPr/>
          <p:nvPr/>
        </p:nvSpPr>
        <p:spPr>
          <a:xfrm>
            <a:off x="411480" y="3035160"/>
            <a:ext cx="1826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 Detailgrade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5"/>
          <p:cNvSpPr/>
          <p:nvPr/>
        </p:nvSpPr>
        <p:spPr>
          <a:xfrm>
            <a:off x="384120" y="3429000"/>
            <a:ext cx="1826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minimal · normal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detailed · noisy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16"/>
          <p:cNvSpPr/>
          <p:nvPr/>
        </p:nvSpPr>
        <p:spPr>
          <a:xfrm>
            <a:off x="2450520" y="2999160"/>
            <a:ext cx="2009520" cy="1716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17"/>
          <p:cNvSpPr/>
          <p:nvPr/>
        </p:nvSpPr>
        <p:spPr>
          <a:xfrm>
            <a:off x="2450520" y="2999160"/>
            <a:ext cx="2009520" cy="38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18"/>
          <p:cNvSpPr/>
          <p:nvPr/>
        </p:nvSpPr>
        <p:spPr>
          <a:xfrm>
            <a:off x="2551680" y="3035160"/>
            <a:ext cx="1861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Variable Satz-reihenfolge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9"/>
          <p:cNvSpPr/>
          <p:nvPr/>
        </p:nvSpPr>
        <p:spPr>
          <a:xfrm>
            <a:off x="2560320" y="3429000"/>
            <a:ext cx="1826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Strategie-Logik für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Fahrzeugplatzierung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 20"/>
          <p:cNvSpPr/>
          <p:nvPr/>
        </p:nvSpPr>
        <p:spPr>
          <a:xfrm>
            <a:off x="4626720" y="2999160"/>
            <a:ext cx="2009520" cy="1716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ectangle 21"/>
          <p:cNvSpPr/>
          <p:nvPr/>
        </p:nvSpPr>
        <p:spPr>
          <a:xfrm>
            <a:off x="4626720" y="2999160"/>
            <a:ext cx="2009520" cy="381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22"/>
          <p:cNvSpPr/>
          <p:nvPr/>
        </p:nvSpPr>
        <p:spPr>
          <a:xfrm>
            <a:off x="4763880" y="3035160"/>
            <a:ext cx="1826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Zufällige Extras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23"/>
          <p:cNvSpPr/>
          <p:nvPr/>
        </p:nvSpPr>
        <p:spPr>
          <a:xfrm>
            <a:off x="4736520" y="3429000"/>
            <a:ext cx="1826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Wetter, Tageszeit,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Airbags, Zeugen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 24"/>
          <p:cNvSpPr/>
          <p:nvPr/>
        </p:nvSpPr>
        <p:spPr>
          <a:xfrm>
            <a:off x="6803280" y="2999160"/>
            <a:ext cx="2009520" cy="1716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ectangle 25"/>
          <p:cNvSpPr/>
          <p:nvPr/>
        </p:nvSpPr>
        <p:spPr>
          <a:xfrm>
            <a:off x="6803280" y="2999160"/>
            <a:ext cx="2009520" cy="381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26"/>
          <p:cNvSpPr/>
          <p:nvPr/>
        </p:nvSpPr>
        <p:spPr>
          <a:xfrm>
            <a:off x="6940440" y="3035160"/>
            <a:ext cx="1826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10 Zielfelder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7"/>
          <p:cNvSpPr/>
          <p:nvPr/>
        </p:nvSpPr>
        <p:spPr>
          <a:xfrm>
            <a:off x="6912720" y="3429000"/>
            <a:ext cx="1826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Feldspezifische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Generierungsregeln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28"/>
          <p:cNvSpPr/>
          <p:nvPr/>
        </p:nvSpPr>
        <p:spPr>
          <a:xfrm>
            <a:off x="274320" y="4736520"/>
            <a:ext cx="8593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Aus 1.000 Datensatzzeilen entstehen so tausende unterschiedliche Textvarianten — das Modell lernt echte sprachliche Vielfalt, nicht ein fixes Template.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0"/>
          <p:cNvSpPr/>
          <p:nvPr/>
        </p:nvSpPr>
        <p:spPr>
          <a:xfrm>
            <a:off x="0" y="0"/>
            <a:ext cx="9140760" cy="9111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Oval 1"/>
          <p:cNvSpPr/>
          <p:nvPr/>
        </p:nvSpPr>
        <p:spPr>
          <a:xfrm>
            <a:off x="228600" y="164520"/>
            <a:ext cx="563760" cy="563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2"/>
          <p:cNvSpPr/>
          <p:nvPr/>
        </p:nvSpPr>
        <p:spPr>
          <a:xfrm>
            <a:off x="822960" y="216000"/>
            <a:ext cx="3102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ffffff"/>
                </a:solidFill>
                <a:latin typeface="Calibri"/>
              </a:rPr>
              <a:t>Ergebnisse — Multi-Head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ectangle 3"/>
          <p:cNvSpPr/>
          <p:nvPr/>
        </p:nvSpPr>
        <p:spPr>
          <a:xfrm>
            <a:off x="0" y="5029200"/>
            <a:ext cx="9140760" cy="106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274320" y="1051560"/>
            <a:ext cx="3503160" cy="3745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Rectangle 5"/>
          <p:cNvSpPr/>
          <p:nvPr/>
        </p:nvSpPr>
        <p:spPr>
          <a:xfrm>
            <a:off x="274320" y="1051560"/>
            <a:ext cx="3503160" cy="4082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844920" y="1087560"/>
            <a:ext cx="212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1200" spc="-1" strike="noStrike">
                <a:solidFill>
                  <a:srgbClr val="ffffff"/>
                </a:solidFill>
                <a:latin typeface="Calibri"/>
              </a:rPr>
              <a:t>Multi-Head-Modell (GottBERT)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7"/>
          <p:cNvSpPr/>
          <p:nvPr/>
        </p:nvSpPr>
        <p:spPr>
          <a:xfrm>
            <a:off x="375480" y="1563120"/>
            <a:ext cx="3316320" cy="27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Basis: uklfr/gottbert-base (deutsches RoBERTa)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10 parallele Klassifikationsköpfe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Metriken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  <a:ea typeface="Calibri"/>
              </a:rPr>
              <a:t>  </a:t>
            </a:r>
            <a:r>
              <a:rPr b="0" lang="de-DE" sz="1100" spc="-1" strike="noStrike">
                <a:solidFill>
                  <a:srgbClr val="1e293b"/>
                </a:solidFill>
                <a:latin typeface="Calibri"/>
                <a:ea typeface="Calibri"/>
              </a:rPr>
              <a:t>partial_score — Anteil korrekt vorhergesagter Felder pro Sample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  <a:ea typeface="Calibri"/>
              </a:rPr>
              <a:t>  </a:t>
            </a:r>
            <a:r>
              <a:rPr b="0" lang="de-DE" sz="1100" spc="-1" strike="noStrike">
                <a:solidFill>
                  <a:srgbClr val="1e293b"/>
                </a:solidFill>
                <a:latin typeface="Calibri"/>
                <a:ea typeface="Calibri"/>
              </a:rPr>
              <a:t>exact_match — alle 10 Felder korrekt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Trainingsparameter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Batch 16  ·  lr 2e-5  ·  15 Epochen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AdamW  ·  Warmup-Scheduler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≥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5.000 Beispiele (synthetisch generiert)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Max. 256 Token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Nur Deutsch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3931920" y="1116000"/>
            <a:ext cx="4853520" cy="2877480"/>
          </a:xfrm>
          <a:prstGeom prst="rect">
            <a:avLst/>
          </a:prstGeom>
          <a:ln w="0">
            <a:noFill/>
          </a:ln>
        </p:spPr>
      </p:pic>
      <p:sp>
        <p:nvSpPr>
          <p:cNvPr id="311" name="Rectangle 6"/>
          <p:cNvSpPr/>
          <p:nvPr/>
        </p:nvSpPr>
        <p:spPr>
          <a:xfrm>
            <a:off x="3933720" y="4114800"/>
            <a:ext cx="3609720" cy="685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Overfittin betrifft die Konfidenz der Vorhersagen, 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nicht die Klassifikationsgenauigkeit.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315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Modellvergleich Regression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274320" y="1005840"/>
            <a:ext cx="548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5-fache Kreuzvalidierung  ·  ~1.000 Zeilen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5"/>
          <p:cNvSpPr/>
          <p:nvPr/>
        </p:nvSpPr>
        <p:spPr>
          <a:xfrm>
            <a:off x="274320" y="1371600"/>
            <a:ext cx="8590320" cy="379080"/>
          </a:xfrm>
          <a:prstGeom prst="roundRect">
            <a:avLst>
              <a:gd name="adj" fmla="val 9524"/>
            </a:avLst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365760" y="1371600"/>
            <a:ext cx="4292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Modell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4846320" y="1371600"/>
            <a:ext cx="1275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R² Ø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6309360" y="1371600"/>
            <a:ext cx="1183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R² Std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9"/>
          <p:cNvSpPr/>
          <p:nvPr/>
        </p:nvSpPr>
        <p:spPr>
          <a:xfrm>
            <a:off x="7589520" y="1371600"/>
            <a:ext cx="1549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MAE Ø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0"/>
          <p:cNvSpPr/>
          <p:nvPr/>
        </p:nvSpPr>
        <p:spPr>
          <a:xfrm>
            <a:off x="274320" y="1755720"/>
            <a:ext cx="8590320" cy="52524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1"/>
          <p:cNvSpPr/>
          <p:nvPr/>
        </p:nvSpPr>
        <p:spPr>
          <a:xfrm>
            <a:off x="274320" y="1755720"/>
            <a:ext cx="159480" cy="525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920" rIns="7992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2"/>
          <p:cNvSpPr/>
          <p:nvPr/>
        </p:nvSpPr>
        <p:spPr>
          <a:xfrm>
            <a:off x="528120" y="1755720"/>
            <a:ext cx="4292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RandomForest  (eingesetzt)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3"/>
          <p:cNvSpPr/>
          <p:nvPr/>
        </p:nvSpPr>
        <p:spPr>
          <a:xfrm>
            <a:off x="4864680" y="1755720"/>
            <a:ext cx="12751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0,697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6327720" y="1755720"/>
            <a:ext cx="11836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0,023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5"/>
          <p:cNvSpPr/>
          <p:nvPr/>
        </p:nvSpPr>
        <p:spPr>
          <a:xfrm>
            <a:off x="7607880" y="1755720"/>
            <a:ext cx="1549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5e"/>
                </a:solidFill>
                <a:latin typeface="Calibri"/>
                <a:ea typeface="Calibri"/>
              </a:rPr>
              <a:t>7.656 €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6"/>
          <p:cNvSpPr/>
          <p:nvPr/>
        </p:nvSpPr>
        <p:spPr>
          <a:xfrm>
            <a:off x="274320" y="2322720"/>
            <a:ext cx="8590320" cy="52524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7"/>
          <p:cNvSpPr/>
          <p:nvPr/>
        </p:nvSpPr>
        <p:spPr>
          <a:xfrm>
            <a:off x="384120" y="2322720"/>
            <a:ext cx="4292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XGBoost  (Standard)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18"/>
          <p:cNvSpPr/>
          <p:nvPr/>
        </p:nvSpPr>
        <p:spPr>
          <a:xfrm>
            <a:off x="4864680" y="2322720"/>
            <a:ext cx="12751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0,642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9"/>
          <p:cNvSpPr/>
          <p:nvPr/>
        </p:nvSpPr>
        <p:spPr>
          <a:xfrm>
            <a:off x="6327720" y="2322720"/>
            <a:ext cx="11836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0,026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0"/>
          <p:cNvSpPr/>
          <p:nvPr/>
        </p:nvSpPr>
        <p:spPr>
          <a:xfrm>
            <a:off x="7607880" y="2322720"/>
            <a:ext cx="1549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8.483 €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1"/>
          <p:cNvSpPr/>
          <p:nvPr/>
        </p:nvSpPr>
        <p:spPr>
          <a:xfrm>
            <a:off x="274320" y="2889360"/>
            <a:ext cx="8590320" cy="5252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384120" y="2889360"/>
            <a:ext cx="4292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CatBoost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3"/>
          <p:cNvSpPr/>
          <p:nvPr/>
        </p:nvSpPr>
        <p:spPr>
          <a:xfrm>
            <a:off x="4864680" y="2889360"/>
            <a:ext cx="12751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0,698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24"/>
          <p:cNvSpPr/>
          <p:nvPr/>
        </p:nvSpPr>
        <p:spPr>
          <a:xfrm>
            <a:off x="6327720" y="2889360"/>
            <a:ext cx="11836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0,022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5"/>
          <p:cNvSpPr/>
          <p:nvPr/>
        </p:nvSpPr>
        <p:spPr>
          <a:xfrm>
            <a:off x="7607880" y="2889360"/>
            <a:ext cx="1549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7.683 €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6"/>
          <p:cNvSpPr/>
          <p:nvPr/>
        </p:nvSpPr>
        <p:spPr>
          <a:xfrm>
            <a:off x="274320" y="3456360"/>
            <a:ext cx="8590320" cy="52524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7"/>
          <p:cNvSpPr/>
          <p:nvPr/>
        </p:nvSpPr>
        <p:spPr>
          <a:xfrm>
            <a:off x="384120" y="3456360"/>
            <a:ext cx="4292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XGBoost  (getunt)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8"/>
          <p:cNvSpPr/>
          <p:nvPr/>
        </p:nvSpPr>
        <p:spPr>
          <a:xfrm>
            <a:off x="4864680" y="3456360"/>
            <a:ext cx="12751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0,697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9"/>
          <p:cNvSpPr/>
          <p:nvPr/>
        </p:nvSpPr>
        <p:spPr>
          <a:xfrm>
            <a:off x="6327720" y="3456360"/>
            <a:ext cx="11836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0,021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30"/>
          <p:cNvSpPr/>
          <p:nvPr/>
        </p:nvSpPr>
        <p:spPr>
          <a:xfrm>
            <a:off x="7607880" y="3456360"/>
            <a:ext cx="1549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7.831 €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1"/>
          <p:cNvSpPr/>
          <p:nvPr/>
        </p:nvSpPr>
        <p:spPr>
          <a:xfrm>
            <a:off x="274320" y="4133160"/>
            <a:ext cx="8590320" cy="680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5" name="Image 1" descr="preencoded.png"/>
          <p:cNvPicPr/>
          <p:nvPr/>
        </p:nvPicPr>
        <p:blipFill>
          <a:blip r:embed="rId2"/>
          <a:stretch/>
        </p:blipFill>
        <p:spPr>
          <a:xfrm>
            <a:off x="384120" y="4206240"/>
            <a:ext cx="360720" cy="360720"/>
          </a:xfrm>
          <a:prstGeom prst="rect">
            <a:avLst/>
          </a:prstGeom>
          <a:ln w="0">
            <a:noFill/>
          </a:ln>
        </p:spPr>
      </p:pic>
      <p:sp>
        <p:nvSpPr>
          <p:cNvPr id="346" name="Text 32"/>
          <p:cNvSpPr/>
          <p:nvPr/>
        </p:nvSpPr>
        <p:spPr>
          <a:xfrm>
            <a:off x="841320" y="4133160"/>
            <a:ext cx="785880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5f46"/>
                </a:solidFill>
                <a:latin typeface="Calibri"/>
                <a:ea typeface="Calibri"/>
              </a:rPr>
              <a:t>RandomForest gewählt: R² ≈ 0,70 ohne Hyperparameter-Tuning erreichbar. MAE ~7.700 € ≈ 18 % relativer Fehler.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350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Regressionsmodell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274320" y="1005840"/>
            <a:ext cx="410976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411480" y="1078920"/>
            <a:ext cx="3835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5e"/>
                </a:solidFill>
                <a:latin typeface="Calibri"/>
                <a:ea typeface="Calibri"/>
              </a:rPr>
              <a:t>RandomForestRegressor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411480" y="1481400"/>
            <a:ext cx="383544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Trainingsdaten aus PostgreSQL (nicht CSV)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Leakage-Felder ausgeschlossen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OneHotEncoder Teil der gespeicherten Pipeline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Inferenz: rohe, unkodierte Eingabewerte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Smoke-Test: Kollision vs. Diebstahl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7"/>
          <p:cNvSpPr/>
          <p:nvPr/>
        </p:nvSpPr>
        <p:spPr>
          <a:xfrm>
            <a:off x="4572000" y="1005840"/>
            <a:ext cx="429264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4709160" y="1078920"/>
            <a:ext cx="40183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5e"/>
                </a:solidFill>
                <a:latin typeface="Calibri"/>
                <a:ea typeface="Calibri"/>
              </a:rPr>
              <a:t>Validierte Metriken (5-fache CV)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4709160" y="1481400"/>
            <a:ext cx="1915200" cy="1000800"/>
          </a:xfrm>
          <a:prstGeom prst="roundRect">
            <a:avLst>
              <a:gd name="adj" fmla="val 7273"/>
            </a:avLst>
          </a:prstGeom>
          <a:solidFill>
            <a:srgbClr val="1a3c5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4709160" y="1554480"/>
            <a:ext cx="1915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0,697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4709160" y="2064600"/>
            <a:ext cx="1915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8f0"/>
                </a:solidFill>
                <a:latin typeface="Calibri"/>
                <a:ea typeface="Calibri"/>
              </a:rPr>
              <a:t>R²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6812280" y="1481400"/>
            <a:ext cx="1915200" cy="100080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6812280" y="1554480"/>
            <a:ext cx="1915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7.656 €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4"/>
          <p:cNvSpPr/>
          <p:nvPr/>
        </p:nvSpPr>
        <p:spPr>
          <a:xfrm>
            <a:off x="6812280" y="2064600"/>
            <a:ext cx="1915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d8f0"/>
                </a:solidFill>
                <a:latin typeface="Calibri"/>
                <a:ea typeface="Calibri"/>
              </a:rPr>
              <a:t>MAE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5"/>
          <p:cNvSpPr/>
          <p:nvPr/>
        </p:nvSpPr>
        <p:spPr>
          <a:xfrm>
            <a:off x="4663440" y="2633400"/>
            <a:ext cx="4109760" cy="19152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6"/>
          <p:cNvSpPr/>
          <p:nvPr/>
        </p:nvSpPr>
        <p:spPr>
          <a:xfrm>
            <a:off x="4800600" y="2697480"/>
            <a:ext cx="38354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Smoke-Test Ergebnisse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4800600" y="3017520"/>
            <a:ext cx="3835440" cy="14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Kollision: ~44.000–46.000 €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Diebstahl / Parked Car: ~3.800–4.000 €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MAE ~7.700 € ≈ 18 % relativer Fehler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8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369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Datenbankarchitektur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274320" y="1005840"/>
            <a:ext cx="548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PostgreSQL  ·  SQLAlchemy  ·  psycopg2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274320" y="1371600"/>
            <a:ext cx="4155480" cy="3241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6"/>
          <p:cNvSpPr/>
          <p:nvPr/>
        </p:nvSpPr>
        <p:spPr>
          <a:xfrm>
            <a:off x="274320" y="1371600"/>
            <a:ext cx="4155480" cy="406440"/>
          </a:xfrm>
          <a:prstGeom prst="roundRect">
            <a:avLst>
              <a:gd name="adj" fmla="val 1777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7"/>
          <p:cNvSpPr/>
          <p:nvPr/>
        </p:nvSpPr>
        <p:spPr>
          <a:xfrm>
            <a:off x="274320" y="1572840"/>
            <a:ext cx="4155480" cy="2052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411480" y="1371600"/>
            <a:ext cx="39268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6 Stammdatentabellen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457200" y="184824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0"/>
          <p:cNvSpPr/>
          <p:nvPr/>
        </p:nvSpPr>
        <p:spPr>
          <a:xfrm>
            <a:off x="594360" y="184824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kunden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11"/>
          <p:cNvSpPr/>
          <p:nvPr/>
        </p:nvSpPr>
        <p:spPr>
          <a:xfrm>
            <a:off x="457200" y="228780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594360" y="228780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policen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457200" y="272736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594360" y="272736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fahrzeuge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5"/>
          <p:cNvSpPr/>
          <p:nvPr/>
        </p:nvSpPr>
        <p:spPr>
          <a:xfrm>
            <a:off x="457200" y="320256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594360" y="316656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unfaelle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457200" y="367812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8"/>
          <p:cNvSpPr/>
          <p:nvPr/>
        </p:nvSpPr>
        <p:spPr>
          <a:xfrm>
            <a:off x="594360" y="367812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schaeden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9"/>
          <p:cNvSpPr/>
          <p:nvPr/>
        </p:nvSpPr>
        <p:spPr>
          <a:xfrm>
            <a:off x="4709160" y="1371600"/>
            <a:ext cx="4155480" cy="3241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20"/>
          <p:cNvSpPr/>
          <p:nvPr/>
        </p:nvSpPr>
        <p:spPr>
          <a:xfrm>
            <a:off x="4709160" y="1371600"/>
            <a:ext cx="4155480" cy="40644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1"/>
          <p:cNvSpPr/>
          <p:nvPr/>
        </p:nvSpPr>
        <p:spPr>
          <a:xfrm>
            <a:off x="4709160" y="1572840"/>
            <a:ext cx="4155480" cy="205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22"/>
          <p:cNvSpPr/>
          <p:nvPr/>
        </p:nvSpPr>
        <p:spPr>
          <a:xfrm>
            <a:off x="4846320" y="1371600"/>
            <a:ext cx="39268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 Pipeline-Ergebnistabellen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3"/>
          <p:cNvSpPr/>
          <p:nvPr/>
        </p:nvSpPr>
        <p:spPr>
          <a:xfrm>
            <a:off x="4892040" y="192024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24"/>
          <p:cNvSpPr/>
          <p:nvPr/>
        </p:nvSpPr>
        <p:spPr>
          <a:xfrm>
            <a:off x="5029200" y="192024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anfragen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25"/>
          <p:cNvSpPr/>
          <p:nvPr/>
        </p:nvSpPr>
        <p:spPr>
          <a:xfrm>
            <a:off x="4892040" y="239580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26"/>
          <p:cNvSpPr/>
          <p:nvPr/>
        </p:nvSpPr>
        <p:spPr>
          <a:xfrm>
            <a:off x="5029200" y="239580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multihead_ergebnisse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27"/>
          <p:cNvSpPr/>
          <p:nvPr/>
        </p:nvSpPr>
        <p:spPr>
          <a:xfrm>
            <a:off x="4892040" y="287136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28"/>
          <p:cNvSpPr/>
          <p:nvPr/>
        </p:nvSpPr>
        <p:spPr>
          <a:xfrm>
            <a:off x="5029200" y="287136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cnn_ergebnisse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9"/>
          <p:cNvSpPr/>
          <p:nvPr/>
        </p:nvSpPr>
        <p:spPr>
          <a:xfrm>
            <a:off x="4892040" y="334656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30"/>
          <p:cNvSpPr/>
          <p:nvPr/>
        </p:nvSpPr>
        <p:spPr>
          <a:xfrm>
            <a:off x="5029200" y="334656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regression_ergebnisse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31"/>
          <p:cNvSpPr/>
          <p:nvPr/>
        </p:nvSpPr>
        <p:spPr>
          <a:xfrm>
            <a:off x="457200" y="4155840"/>
            <a:ext cx="3789720" cy="34236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32"/>
          <p:cNvSpPr/>
          <p:nvPr/>
        </p:nvSpPr>
        <p:spPr>
          <a:xfrm>
            <a:off x="601200" y="4146120"/>
            <a:ext cx="351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3c5e"/>
                </a:solidFill>
                <a:latin typeface="Calibri"/>
                <a:ea typeface="Calibri"/>
              </a:rPr>
              <a:t>fahrzeug_katalog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33"/>
          <p:cNvSpPr/>
          <p:nvPr/>
        </p:nvSpPr>
        <p:spPr>
          <a:xfrm>
            <a:off x="274320" y="4736520"/>
            <a:ext cx="8590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Zugangsdaten ausschließlich über Umgebungsvariablen — keine fest codierten Secrets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1"/>
          <p:cNvSpPr/>
          <p:nvPr/>
        </p:nvSpPr>
        <p:spPr>
          <a:xfrm>
            <a:off x="0" y="0"/>
            <a:ext cx="9140760" cy="9111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Oval 2"/>
          <p:cNvSpPr/>
          <p:nvPr/>
        </p:nvSpPr>
        <p:spPr>
          <a:xfrm>
            <a:off x="228600" y="164520"/>
            <a:ext cx="563760" cy="563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1"/>
          <p:cNvSpPr/>
          <p:nvPr/>
        </p:nvSpPr>
        <p:spPr>
          <a:xfrm>
            <a:off x="828000" y="223200"/>
            <a:ext cx="2305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ffffff"/>
                </a:solidFill>
                <a:latin typeface="Calibri"/>
              </a:rPr>
              <a:t>Ergebnisse — CNN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ectangle 2"/>
          <p:cNvSpPr/>
          <p:nvPr/>
        </p:nvSpPr>
        <p:spPr>
          <a:xfrm>
            <a:off x="0" y="5029200"/>
            <a:ext cx="9140760" cy="106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Rectangle 14"/>
          <p:cNvSpPr/>
          <p:nvPr/>
        </p:nvSpPr>
        <p:spPr>
          <a:xfrm>
            <a:off x="2457720" y="1051560"/>
            <a:ext cx="4157280" cy="3745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Rectangle 15"/>
          <p:cNvSpPr/>
          <p:nvPr/>
        </p:nvSpPr>
        <p:spPr>
          <a:xfrm>
            <a:off x="2457720" y="1051560"/>
            <a:ext cx="4157280" cy="408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13"/>
          <p:cNvSpPr/>
          <p:nvPr/>
        </p:nvSpPr>
        <p:spPr>
          <a:xfrm>
            <a:off x="3490920" y="1087560"/>
            <a:ext cx="2208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1200" spc="-1" strike="noStrike">
                <a:solidFill>
                  <a:srgbClr val="ffffff"/>
                </a:solidFill>
                <a:latin typeface="Calibri"/>
              </a:rPr>
              <a:t>CNN-Bildanalyse (MobileNetV2)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21"/>
          <p:cNvSpPr/>
          <p:nvPr/>
        </p:nvSpPr>
        <p:spPr>
          <a:xfrm>
            <a:off x="2558880" y="1527120"/>
            <a:ext cx="392868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Basis: MobileNetV2, vortrainiert auf ImageNet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Transfer Learning — nur Kopf trainiert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Test-Accuracy: ~72 %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3 Schadensklassen: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  </a:t>
            </a: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01-minor  — Kratzer, kleine Dellen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  </a:t>
            </a: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02-moderate — Karosserieverformung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  </a:t>
            </a: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03-severe  — Strukturschäden, Totalverlust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Calibri"/>
              </a:rPr>
              <a:t>Epochs 10  ·  Batch 32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412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Webanwendung — Dashboard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274320" y="1005840"/>
            <a:ext cx="731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streamlit run app/dashboard.py  →  http://localhost:8501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5"/>
          <p:cNvSpPr/>
          <p:nvPr/>
        </p:nvSpPr>
        <p:spPr>
          <a:xfrm>
            <a:off x="274320" y="1371600"/>
            <a:ext cx="4109760" cy="1640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6"/>
          <p:cNvSpPr/>
          <p:nvPr/>
        </p:nvSpPr>
        <p:spPr>
          <a:xfrm>
            <a:off x="274320" y="1371600"/>
            <a:ext cx="4109760" cy="379080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7"/>
          <p:cNvSpPr/>
          <p:nvPr/>
        </p:nvSpPr>
        <p:spPr>
          <a:xfrm>
            <a:off x="274320" y="1600200"/>
            <a:ext cx="4109760" cy="150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8" name="Image 1" descr="preencoded.png"/>
          <p:cNvPicPr/>
          <p:nvPr/>
        </p:nvPicPr>
        <p:blipFill>
          <a:blip r:embed="rId2"/>
          <a:stretch/>
        </p:blipFill>
        <p:spPr>
          <a:xfrm>
            <a:off x="384120" y="143568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419" name="Text 8"/>
          <p:cNvSpPr/>
          <p:nvPr/>
        </p:nvSpPr>
        <p:spPr>
          <a:xfrm>
            <a:off x="685800" y="1371600"/>
            <a:ext cx="3606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Eingabe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384120" y="1810440"/>
            <a:ext cx="3890160" cy="11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Zwei Spalten: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Links: Freitexteingabe (Schadensmeldung)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Rechts: Foto-Upload (JPG/PNG) mit sofortiger Vorschau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Klick auf "Prognose erstellen"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10"/>
          <p:cNvSpPr/>
          <p:nvPr/>
        </p:nvSpPr>
        <p:spPr>
          <a:xfrm>
            <a:off x="4526280" y="1371600"/>
            <a:ext cx="4338360" cy="1640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1"/>
          <p:cNvSpPr/>
          <p:nvPr/>
        </p:nvSpPr>
        <p:spPr>
          <a:xfrm>
            <a:off x="4526280" y="1371600"/>
            <a:ext cx="4338360" cy="379080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2"/>
          <p:cNvSpPr/>
          <p:nvPr/>
        </p:nvSpPr>
        <p:spPr>
          <a:xfrm>
            <a:off x="4526280" y="1600200"/>
            <a:ext cx="4338360" cy="15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4" name="Image 2" descr="preencoded.png"/>
          <p:cNvPicPr/>
          <p:nvPr/>
        </p:nvPicPr>
        <p:blipFill>
          <a:blip r:embed="rId3"/>
          <a:stretch/>
        </p:blipFill>
        <p:spPr>
          <a:xfrm>
            <a:off x="4636080" y="143568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425" name="Text 13"/>
          <p:cNvSpPr/>
          <p:nvPr/>
        </p:nvSpPr>
        <p:spPr>
          <a:xfrm>
            <a:off x="4937760" y="1371600"/>
            <a:ext cx="3835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14"/>
          <p:cNvSpPr/>
          <p:nvPr/>
        </p:nvSpPr>
        <p:spPr>
          <a:xfrm>
            <a:off x="4636080" y="1810440"/>
            <a:ext cx="4118760" cy="11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Extrahierte Felder als Tabelle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Schadensschwere aus Text und Foto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Konfidenzwerte je Quelle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Kostenschätzung als Kennzahl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5"/>
          <p:cNvSpPr/>
          <p:nvPr/>
        </p:nvSpPr>
        <p:spPr>
          <a:xfrm>
            <a:off x="274320" y="3154680"/>
            <a:ext cx="8590320" cy="1567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6"/>
          <p:cNvSpPr/>
          <p:nvPr/>
        </p:nvSpPr>
        <p:spPr>
          <a:xfrm>
            <a:off x="411480" y="3291840"/>
            <a:ext cx="497880" cy="49788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9" name="Image 3" descr="preencoded.png"/>
          <p:cNvPicPr/>
          <p:nvPr/>
        </p:nvPicPr>
        <p:blipFill>
          <a:blip r:embed="rId4"/>
          <a:stretch/>
        </p:blipFill>
        <p:spPr>
          <a:xfrm>
            <a:off x="524520" y="3404880"/>
            <a:ext cx="271440" cy="271440"/>
          </a:xfrm>
          <a:prstGeom prst="rect">
            <a:avLst/>
          </a:prstGeom>
          <a:ln w="0">
            <a:noFill/>
          </a:ln>
        </p:spPr>
      </p:pic>
      <p:sp>
        <p:nvSpPr>
          <p:cNvPr id="430" name="Text 17"/>
          <p:cNvSpPr/>
          <p:nvPr/>
        </p:nvSpPr>
        <p:spPr>
          <a:xfrm>
            <a:off x="1005840" y="3246120"/>
            <a:ext cx="5481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3c5e"/>
                </a:solidFill>
                <a:latin typeface="Calibri"/>
                <a:ea typeface="Calibri"/>
              </a:rPr>
              <a:t>Interaktives Vergleichsdiagramm (Plotly)</a:t>
            </a:r>
            <a:endParaRPr b="0" lang="de-DE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8"/>
          <p:cNvSpPr/>
          <p:nvPr/>
        </p:nvSpPr>
        <p:spPr>
          <a:xfrm>
            <a:off x="1005840" y="3611880"/>
            <a:ext cx="75844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Prognose vs. historische Mittelwerte je Schweregrad  ·  Pipeline einmalig geladen (@cache_resource)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4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435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Systemarchitektur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4"/>
          <p:cNvSpPr/>
          <p:nvPr/>
        </p:nvSpPr>
        <p:spPr>
          <a:xfrm>
            <a:off x="1582920" y="1041840"/>
            <a:ext cx="589320" cy="589320"/>
          </a:xfrm>
          <a:prstGeom prst="ellipse">
            <a:avLst/>
          </a:prstGeo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8" name="Image 1" descr="preencoded.png"/>
          <p:cNvPicPr/>
          <p:nvPr/>
        </p:nvPicPr>
        <p:blipFill>
          <a:blip r:embed="rId2"/>
          <a:stretch/>
        </p:blipFill>
        <p:spPr>
          <a:xfrm>
            <a:off x="1752480" y="117540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439" name="Text 5"/>
          <p:cNvSpPr/>
          <p:nvPr/>
        </p:nvSpPr>
        <p:spPr>
          <a:xfrm>
            <a:off x="1390320" y="1592280"/>
            <a:ext cx="10008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  <a:ea typeface="Calibri"/>
              </a:rPr>
              <a:t>CLI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  <a:ea typeface="Calibri"/>
              </a:rPr>
              <a:t>main.py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6"/>
          <p:cNvSpPr/>
          <p:nvPr/>
        </p:nvSpPr>
        <p:spPr>
          <a:xfrm>
            <a:off x="3805560" y="1041840"/>
            <a:ext cx="589320" cy="589320"/>
          </a:xfrm>
          <a:prstGeom prst="ellipse">
            <a:avLst/>
          </a:prstGeo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1" name="Image 2" descr="preencoded.png"/>
          <p:cNvPicPr/>
          <p:nvPr/>
        </p:nvPicPr>
        <p:blipFill>
          <a:blip r:embed="rId3"/>
          <a:stretch/>
        </p:blipFill>
        <p:spPr>
          <a:xfrm>
            <a:off x="3939120" y="117540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442" name="Text 7"/>
          <p:cNvSpPr/>
          <p:nvPr/>
        </p:nvSpPr>
        <p:spPr>
          <a:xfrm>
            <a:off x="3612960" y="1628280"/>
            <a:ext cx="10008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  <a:ea typeface="Calibri"/>
              </a:rPr>
              <a:t>E-Mail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  <a:ea typeface="Calibri"/>
              </a:rPr>
              <a:t>Worker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8"/>
          <p:cNvSpPr/>
          <p:nvPr/>
        </p:nvSpPr>
        <p:spPr>
          <a:xfrm>
            <a:off x="6172200" y="1005840"/>
            <a:ext cx="589320" cy="589320"/>
          </a:xfrm>
          <a:prstGeom prst="ellipse">
            <a:avLst/>
          </a:prstGeo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3" descr="preencoded.png"/>
          <p:cNvPicPr/>
          <p:nvPr/>
        </p:nvPicPr>
        <p:blipFill>
          <a:blip r:embed="rId4"/>
          <a:stretch/>
        </p:blipFill>
        <p:spPr>
          <a:xfrm>
            <a:off x="6305760" y="113940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445" name="Text 9"/>
          <p:cNvSpPr/>
          <p:nvPr/>
        </p:nvSpPr>
        <p:spPr>
          <a:xfrm>
            <a:off x="5943600" y="1664280"/>
            <a:ext cx="10008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  <a:ea typeface="Calibri"/>
              </a:rPr>
              <a:t>Streamlit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  <a:ea typeface="Calibri"/>
              </a:rPr>
              <a:t>Dashboard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2"/>
          <p:cNvSpPr/>
          <p:nvPr/>
        </p:nvSpPr>
        <p:spPr>
          <a:xfrm>
            <a:off x="2236320" y="2417400"/>
            <a:ext cx="4018320" cy="653400"/>
          </a:xfrm>
          <a:prstGeom prst="roundRect">
            <a:avLst>
              <a:gd name="adj" fmla="val 11111"/>
            </a:avLst>
          </a:prstGeom>
          <a:solidFill>
            <a:srgbClr val="0f2540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7" name="Image 4" descr="preencoded.png"/>
          <p:cNvPicPr/>
          <p:nvPr/>
        </p:nvPicPr>
        <p:blipFill>
          <a:blip r:embed="rId5"/>
          <a:stretch/>
        </p:blipFill>
        <p:spPr>
          <a:xfrm>
            <a:off x="2481480" y="252648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448" name="Text 13"/>
          <p:cNvSpPr/>
          <p:nvPr/>
        </p:nvSpPr>
        <p:spPr>
          <a:xfrm>
            <a:off x="3030120" y="2417400"/>
            <a:ext cx="319536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Zentrale Pipeline  (src/services/pipeline.py)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5"/>
          <p:cNvSpPr/>
          <p:nvPr/>
        </p:nvSpPr>
        <p:spPr>
          <a:xfrm>
            <a:off x="509760" y="3451320"/>
            <a:ext cx="1484640" cy="744840"/>
          </a:xfrm>
          <a:prstGeom prst="roundRect">
            <a:avLst>
              <a:gd name="adj" fmla="val 9756"/>
            </a:avLst>
          </a:prstGeom>
          <a:solidFill>
            <a:srgbClr val="1a3c5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0" name="Image 5" descr="preencoded.png"/>
          <p:cNvPicPr/>
          <p:nvPr/>
        </p:nvPicPr>
        <p:blipFill>
          <a:blip r:embed="rId6"/>
          <a:stretch/>
        </p:blipFill>
        <p:spPr>
          <a:xfrm>
            <a:off x="682920" y="3587400"/>
            <a:ext cx="406440" cy="406440"/>
          </a:xfrm>
          <a:prstGeom prst="rect">
            <a:avLst/>
          </a:prstGeom>
          <a:ln w="0">
            <a:noFill/>
          </a:ln>
        </p:spPr>
      </p:pic>
      <p:sp>
        <p:nvSpPr>
          <p:cNvPr id="451" name="Text 16"/>
          <p:cNvSpPr/>
          <p:nvPr/>
        </p:nvSpPr>
        <p:spPr>
          <a:xfrm>
            <a:off x="1176120" y="3415320"/>
            <a:ext cx="20426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Multi-Head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Modell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7"/>
          <p:cNvSpPr/>
          <p:nvPr/>
        </p:nvSpPr>
        <p:spPr>
          <a:xfrm>
            <a:off x="2427840" y="3451320"/>
            <a:ext cx="1623960" cy="744840"/>
          </a:xfrm>
          <a:prstGeom prst="roundRect">
            <a:avLst>
              <a:gd name="adj" fmla="val 9756"/>
            </a:avLst>
          </a:prstGeom>
          <a:solidFill>
            <a:srgbClr val="1a3c5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3" name="Image 6" descr="preencoded.png"/>
          <p:cNvPicPr/>
          <p:nvPr/>
        </p:nvPicPr>
        <p:blipFill>
          <a:blip r:embed="rId7"/>
          <a:stretch/>
        </p:blipFill>
        <p:spPr>
          <a:xfrm>
            <a:off x="2637000" y="3587400"/>
            <a:ext cx="406440" cy="406440"/>
          </a:xfrm>
          <a:prstGeom prst="rect">
            <a:avLst/>
          </a:prstGeom>
          <a:ln w="0">
            <a:noFill/>
          </a:ln>
        </p:spPr>
      </p:pic>
      <p:sp>
        <p:nvSpPr>
          <p:cNvPr id="454" name="Text 18"/>
          <p:cNvSpPr/>
          <p:nvPr/>
        </p:nvSpPr>
        <p:spPr>
          <a:xfrm>
            <a:off x="3238200" y="3415320"/>
            <a:ext cx="191520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CNN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Bildanalyse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4705920" y="3451320"/>
            <a:ext cx="1619280" cy="744840"/>
          </a:xfrm>
          <a:prstGeom prst="roundRect">
            <a:avLst>
              <a:gd name="adj" fmla="val 9756"/>
            </a:avLst>
          </a:prstGeom>
          <a:solidFill>
            <a:srgbClr val="1a3c5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6" name="Image 7" descr="preencoded.png"/>
          <p:cNvPicPr/>
          <p:nvPr/>
        </p:nvPicPr>
        <p:blipFill>
          <a:blip r:embed="rId8"/>
          <a:stretch/>
        </p:blipFill>
        <p:spPr>
          <a:xfrm>
            <a:off x="4915080" y="3623400"/>
            <a:ext cx="406440" cy="406440"/>
          </a:xfrm>
          <a:prstGeom prst="rect">
            <a:avLst/>
          </a:prstGeom>
          <a:ln w="0">
            <a:noFill/>
          </a:ln>
        </p:spPr>
      </p:pic>
      <p:sp>
        <p:nvSpPr>
          <p:cNvPr id="457" name="Text 20"/>
          <p:cNvSpPr/>
          <p:nvPr/>
        </p:nvSpPr>
        <p:spPr>
          <a:xfrm>
            <a:off x="5408280" y="3451320"/>
            <a:ext cx="191520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Regressions-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modell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1"/>
          <p:cNvSpPr/>
          <p:nvPr/>
        </p:nvSpPr>
        <p:spPr>
          <a:xfrm>
            <a:off x="274320" y="4590360"/>
            <a:ext cx="8590320" cy="4064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22"/>
          <p:cNvSpPr/>
          <p:nvPr/>
        </p:nvSpPr>
        <p:spPr>
          <a:xfrm>
            <a:off x="457200" y="4617720"/>
            <a:ext cx="83160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a3c5e"/>
                </a:solidFill>
                <a:latin typeface="Calibri"/>
                <a:ea typeface="Calibri"/>
              </a:rPr>
              <a:t>SOLID: SRP — Pipeline nur für Orchestrierung  ·  DIP — Repository-Interface, kein direkter DB-Code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0" name=""/>
          <p:cNvCxnSpPr>
            <a:stCxn id="446" idx="1"/>
            <a:endCxn id="439" idx="2"/>
          </p:cNvCxnSpPr>
          <p:nvPr/>
        </p:nvCxnSpPr>
        <p:spPr>
          <a:xfrm rot="10800000">
            <a:off x="1890720" y="2090160"/>
            <a:ext cx="345960" cy="65412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461" name=""/>
          <p:cNvCxnSpPr>
            <a:stCxn id="446" idx="0"/>
            <a:endCxn id="442" idx="2"/>
          </p:cNvCxnSpPr>
          <p:nvPr/>
        </p:nvCxnSpPr>
        <p:spPr>
          <a:xfrm flipV="1" rot="16200000">
            <a:off x="4033800" y="2205360"/>
            <a:ext cx="291600" cy="132480"/>
          </a:xfrm>
          <a:prstGeom prst="bentConnector3">
            <a:avLst>
              <a:gd name="adj1" fmla="val 49814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462" name=""/>
          <p:cNvCxnSpPr>
            <a:stCxn id="446" idx="3"/>
            <a:endCxn id="445" idx="2"/>
          </p:cNvCxnSpPr>
          <p:nvPr/>
        </p:nvCxnSpPr>
        <p:spPr>
          <a:xfrm flipV="1">
            <a:off x="6254640" y="2162160"/>
            <a:ext cx="189720" cy="58212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sp>
        <p:nvSpPr>
          <p:cNvPr id="463" name=""/>
          <p:cNvSpPr/>
          <p:nvPr/>
        </p:nvSpPr>
        <p:spPr>
          <a:xfrm flipH="1">
            <a:off x="1371600" y="3072600"/>
            <a:ext cx="2743200" cy="3427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43"/>
          <p:cNvSpPr/>
          <p:nvPr/>
        </p:nvSpPr>
        <p:spPr>
          <a:xfrm>
            <a:off x="6892200" y="3451320"/>
            <a:ext cx="1619280" cy="744840"/>
          </a:xfrm>
          <a:prstGeom prst="roundRect">
            <a:avLst>
              <a:gd name="adj" fmla="val 9756"/>
            </a:avLst>
          </a:prstGeom>
          <a:solidFill>
            <a:srgbClr val="1a3c5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1"/>
          <p:cNvSpPr/>
          <p:nvPr/>
        </p:nvSpPr>
        <p:spPr>
          <a:xfrm>
            <a:off x="7572600" y="3429000"/>
            <a:ext cx="102816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Datenbank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6" name="Image 8" descr="preencoded.png"/>
          <p:cNvPicPr/>
          <p:nvPr/>
        </p:nvPicPr>
        <p:blipFill>
          <a:blip r:embed="rId9"/>
          <a:stretch/>
        </p:blipFill>
        <p:spPr>
          <a:xfrm>
            <a:off x="7039440" y="3585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467" name=""/>
          <p:cNvSpPr/>
          <p:nvPr/>
        </p:nvSpPr>
        <p:spPr>
          <a:xfrm flipH="1">
            <a:off x="3200400" y="3072600"/>
            <a:ext cx="914400" cy="3787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4115160" y="3072600"/>
            <a:ext cx="685440" cy="356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4115160" y="3072600"/>
            <a:ext cx="2971440" cy="356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473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Pipeline-Ablauf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4"/>
          <p:cNvSpPr/>
          <p:nvPr/>
        </p:nvSpPr>
        <p:spPr>
          <a:xfrm>
            <a:off x="274320" y="1024200"/>
            <a:ext cx="8590320" cy="653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5"/>
          <p:cNvSpPr/>
          <p:nvPr/>
        </p:nvSpPr>
        <p:spPr>
          <a:xfrm>
            <a:off x="365760" y="1124640"/>
            <a:ext cx="452160" cy="4521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6"/>
          <p:cNvSpPr/>
          <p:nvPr/>
        </p:nvSpPr>
        <p:spPr>
          <a:xfrm>
            <a:off x="365760" y="1124640"/>
            <a:ext cx="4521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7"/>
          <p:cNvSpPr/>
          <p:nvPr/>
        </p:nvSpPr>
        <p:spPr>
          <a:xfrm>
            <a:off x="960120" y="1124640"/>
            <a:ext cx="452160" cy="45216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9" name="Image 1" descr="preencoded.png"/>
          <p:cNvPicPr/>
          <p:nvPr/>
        </p:nvPicPr>
        <p:blipFill>
          <a:blip r:embed="rId2"/>
          <a:stretch/>
        </p:blipFill>
        <p:spPr>
          <a:xfrm>
            <a:off x="1063080" y="12276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80" name="Text 8"/>
          <p:cNvSpPr/>
          <p:nvPr/>
        </p:nvSpPr>
        <p:spPr>
          <a:xfrm>
            <a:off x="1508760" y="1060560"/>
            <a:ext cx="3195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Anfrage speichern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9"/>
          <p:cNvSpPr/>
          <p:nvPr/>
        </p:nvSpPr>
        <p:spPr>
          <a:xfrm>
            <a:off x="1508760" y="1371600"/>
            <a:ext cx="7127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Rohanfrage in DB → request_id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0"/>
          <p:cNvSpPr/>
          <p:nvPr/>
        </p:nvSpPr>
        <p:spPr>
          <a:xfrm>
            <a:off x="594360" y="1682280"/>
            <a:ext cx="360" cy="10080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11"/>
          <p:cNvSpPr/>
          <p:nvPr/>
        </p:nvSpPr>
        <p:spPr>
          <a:xfrm>
            <a:off x="274320" y="1783080"/>
            <a:ext cx="8590320" cy="653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2"/>
          <p:cNvSpPr/>
          <p:nvPr/>
        </p:nvSpPr>
        <p:spPr>
          <a:xfrm>
            <a:off x="365760" y="1883520"/>
            <a:ext cx="452160" cy="45216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13"/>
          <p:cNvSpPr/>
          <p:nvPr/>
        </p:nvSpPr>
        <p:spPr>
          <a:xfrm>
            <a:off x="365760" y="1883520"/>
            <a:ext cx="4521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4"/>
          <p:cNvSpPr/>
          <p:nvPr/>
        </p:nvSpPr>
        <p:spPr>
          <a:xfrm>
            <a:off x="960120" y="1883520"/>
            <a:ext cx="452160" cy="452160"/>
          </a:xfrm>
          <a:prstGeom prst="ellipse">
            <a:avLst/>
          </a:prstGeo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7" name="Image 2" descr="preencoded.png"/>
          <p:cNvPicPr/>
          <p:nvPr/>
        </p:nvPicPr>
        <p:blipFill>
          <a:blip r:embed="rId3"/>
          <a:stretch/>
        </p:blipFill>
        <p:spPr>
          <a:xfrm>
            <a:off x="1063080" y="198648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88" name="Text 15"/>
          <p:cNvSpPr/>
          <p:nvPr/>
        </p:nvSpPr>
        <p:spPr>
          <a:xfrm>
            <a:off x="1508760" y="1819800"/>
            <a:ext cx="3195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Multi-Head (Text)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6"/>
          <p:cNvSpPr/>
          <p:nvPr/>
        </p:nvSpPr>
        <p:spPr>
          <a:xfrm>
            <a:off x="1508760" y="2130480"/>
            <a:ext cx="7127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Felder + Schadensschwere + Konfidenz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17"/>
          <p:cNvSpPr/>
          <p:nvPr/>
        </p:nvSpPr>
        <p:spPr>
          <a:xfrm>
            <a:off x="594360" y="2441160"/>
            <a:ext cx="360" cy="10080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8"/>
          <p:cNvSpPr/>
          <p:nvPr/>
        </p:nvSpPr>
        <p:spPr>
          <a:xfrm>
            <a:off x="274320" y="2541960"/>
            <a:ext cx="8590320" cy="653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19"/>
          <p:cNvSpPr/>
          <p:nvPr/>
        </p:nvSpPr>
        <p:spPr>
          <a:xfrm>
            <a:off x="365760" y="2642760"/>
            <a:ext cx="452160" cy="452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20"/>
          <p:cNvSpPr/>
          <p:nvPr/>
        </p:nvSpPr>
        <p:spPr>
          <a:xfrm>
            <a:off x="365760" y="2642760"/>
            <a:ext cx="4521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1"/>
          <p:cNvSpPr/>
          <p:nvPr/>
        </p:nvSpPr>
        <p:spPr>
          <a:xfrm>
            <a:off x="960120" y="2642760"/>
            <a:ext cx="452160" cy="4521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5" name="Image 3" descr="preencoded.png"/>
          <p:cNvPicPr/>
          <p:nvPr/>
        </p:nvPicPr>
        <p:blipFill>
          <a:blip r:embed="rId4"/>
          <a:stretch/>
        </p:blipFill>
        <p:spPr>
          <a:xfrm>
            <a:off x="1063080" y="274536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96" name="Text 22"/>
          <p:cNvSpPr/>
          <p:nvPr/>
        </p:nvSpPr>
        <p:spPr>
          <a:xfrm>
            <a:off x="1508760" y="2578680"/>
            <a:ext cx="3195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CNN (Foto)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23"/>
          <p:cNvSpPr/>
          <p:nvPr/>
        </p:nvSpPr>
        <p:spPr>
          <a:xfrm>
            <a:off x="1508760" y="2889360"/>
            <a:ext cx="7127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Schadensschwere + Konfidenz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(optional — überspringbar)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24"/>
          <p:cNvSpPr/>
          <p:nvPr/>
        </p:nvSpPr>
        <p:spPr>
          <a:xfrm>
            <a:off x="594360" y="3200400"/>
            <a:ext cx="360" cy="100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25"/>
          <p:cNvSpPr/>
          <p:nvPr/>
        </p:nvSpPr>
        <p:spPr>
          <a:xfrm>
            <a:off x="274320" y="3300840"/>
            <a:ext cx="8590320" cy="653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6"/>
          <p:cNvSpPr/>
          <p:nvPr/>
        </p:nvSpPr>
        <p:spPr>
          <a:xfrm>
            <a:off x="365760" y="3401640"/>
            <a:ext cx="452160" cy="452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27"/>
          <p:cNvSpPr/>
          <p:nvPr/>
        </p:nvSpPr>
        <p:spPr>
          <a:xfrm>
            <a:off x="365760" y="3401640"/>
            <a:ext cx="4521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28"/>
          <p:cNvSpPr/>
          <p:nvPr/>
        </p:nvSpPr>
        <p:spPr>
          <a:xfrm>
            <a:off x="960120" y="3401640"/>
            <a:ext cx="452160" cy="45216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3" name="Image 4" descr="preencoded.png"/>
          <p:cNvPicPr/>
          <p:nvPr/>
        </p:nvPicPr>
        <p:blipFill>
          <a:blip r:embed="rId5"/>
          <a:stretch/>
        </p:blipFill>
        <p:spPr>
          <a:xfrm>
            <a:off x="1063080" y="35046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504" name="Text 29"/>
          <p:cNvSpPr/>
          <p:nvPr/>
        </p:nvSpPr>
        <p:spPr>
          <a:xfrm>
            <a:off x="1508760" y="3337560"/>
            <a:ext cx="3195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Schwere-Fusion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30"/>
          <p:cNvSpPr/>
          <p:nvPr/>
        </p:nvSpPr>
        <p:spPr>
          <a:xfrm>
            <a:off x="1508760" y="3648600"/>
            <a:ext cx="7127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Höhere Konfidenz gewinnt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Foto gewinnt bei Gleichstand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1"/>
          <p:cNvSpPr/>
          <p:nvPr/>
        </p:nvSpPr>
        <p:spPr>
          <a:xfrm>
            <a:off x="594360" y="3959280"/>
            <a:ext cx="360" cy="100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2"/>
          <p:cNvSpPr/>
          <p:nvPr/>
        </p:nvSpPr>
        <p:spPr>
          <a:xfrm>
            <a:off x="274320" y="4060080"/>
            <a:ext cx="8590320" cy="653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33"/>
          <p:cNvSpPr/>
          <p:nvPr/>
        </p:nvSpPr>
        <p:spPr>
          <a:xfrm>
            <a:off x="365760" y="4160520"/>
            <a:ext cx="452160" cy="452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34"/>
          <p:cNvSpPr/>
          <p:nvPr/>
        </p:nvSpPr>
        <p:spPr>
          <a:xfrm>
            <a:off x="365760" y="4160520"/>
            <a:ext cx="4521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35"/>
          <p:cNvSpPr/>
          <p:nvPr/>
        </p:nvSpPr>
        <p:spPr>
          <a:xfrm>
            <a:off x="960120" y="4160520"/>
            <a:ext cx="452160" cy="4521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1" name="Image 5" descr="preencoded.png"/>
          <p:cNvPicPr/>
          <p:nvPr/>
        </p:nvPicPr>
        <p:blipFill>
          <a:blip r:embed="rId6"/>
          <a:stretch/>
        </p:blipFill>
        <p:spPr>
          <a:xfrm>
            <a:off x="1063080" y="426348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512" name="Text 36"/>
          <p:cNvSpPr/>
          <p:nvPr/>
        </p:nvSpPr>
        <p:spPr>
          <a:xfrm>
            <a:off x="1508760" y="4096440"/>
            <a:ext cx="3195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Regression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37"/>
          <p:cNvSpPr/>
          <p:nvPr/>
        </p:nvSpPr>
        <p:spPr>
          <a:xfrm>
            <a:off x="1508760" y="4407480"/>
            <a:ext cx="7127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vehicle_claim aus Feldern schätzen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6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517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Deployment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4"/>
          <p:cNvSpPr/>
          <p:nvPr/>
        </p:nvSpPr>
        <p:spPr>
          <a:xfrm>
            <a:off x="274320" y="1005840"/>
            <a:ext cx="8590320" cy="11653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5"/>
          <p:cNvSpPr/>
          <p:nvPr/>
        </p:nvSpPr>
        <p:spPr>
          <a:xfrm>
            <a:off x="274320" y="1005840"/>
            <a:ext cx="8590320" cy="379080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6"/>
          <p:cNvSpPr/>
          <p:nvPr/>
        </p:nvSpPr>
        <p:spPr>
          <a:xfrm>
            <a:off x="274320" y="1234440"/>
            <a:ext cx="8590320" cy="150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2" name="Image 1" descr="preencoded.png"/>
          <p:cNvPicPr/>
          <p:nvPr/>
        </p:nvPicPr>
        <p:blipFill>
          <a:blip r:embed="rId2"/>
          <a:stretch/>
        </p:blipFill>
        <p:spPr>
          <a:xfrm>
            <a:off x="384120" y="106992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23" name="Text 7"/>
          <p:cNvSpPr/>
          <p:nvPr/>
        </p:nvSpPr>
        <p:spPr>
          <a:xfrm>
            <a:off x="685800" y="1005840"/>
            <a:ext cx="808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requirements.txt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8"/>
          <p:cNvSpPr/>
          <p:nvPr/>
        </p:nvSpPr>
        <p:spPr>
          <a:xfrm>
            <a:off x="384120" y="1444680"/>
            <a:ext cx="837072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12 Pakete: streamlit · plotly · sqlalchemy · tensorflow · torch · transformers · scikit-learn · pandas · numpy · psycopg2-binary · pillow · python-dotenv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9"/>
          <p:cNvSpPr/>
          <p:nvPr/>
        </p:nvSpPr>
        <p:spPr>
          <a:xfrm>
            <a:off x="274320" y="2304360"/>
            <a:ext cx="8590320" cy="11653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0"/>
          <p:cNvSpPr/>
          <p:nvPr/>
        </p:nvSpPr>
        <p:spPr>
          <a:xfrm>
            <a:off x="274320" y="2304360"/>
            <a:ext cx="8590320" cy="379080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11"/>
          <p:cNvSpPr/>
          <p:nvPr/>
        </p:nvSpPr>
        <p:spPr>
          <a:xfrm>
            <a:off x="274320" y="2532960"/>
            <a:ext cx="8590320" cy="15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8" name="Image 2" descr="preencoded.png"/>
          <p:cNvPicPr/>
          <p:nvPr/>
        </p:nvPicPr>
        <p:blipFill>
          <a:blip r:embed="rId3"/>
          <a:stretch/>
        </p:blipFill>
        <p:spPr>
          <a:xfrm>
            <a:off x="384120" y="236844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29" name="Text 12"/>
          <p:cNvSpPr/>
          <p:nvPr/>
        </p:nvSpPr>
        <p:spPr>
          <a:xfrm>
            <a:off x="685800" y="2304360"/>
            <a:ext cx="808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Konfiguration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13"/>
          <p:cNvSpPr/>
          <p:nvPr/>
        </p:nvSpPr>
        <p:spPr>
          <a:xfrm>
            <a:off x="384120" y="2743200"/>
            <a:ext cx="837072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Alle Zugangsdaten über Umgebungsvariablen — keine fest codierten Secrets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DB + E-Mail vollständig konfigurierbar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4"/>
          <p:cNvSpPr/>
          <p:nvPr/>
        </p:nvSpPr>
        <p:spPr>
          <a:xfrm>
            <a:off x="274320" y="3602880"/>
            <a:ext cx="8590320" cy="11653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5"/>
          <p:cNvSpPr/>
          <p:nvPr/>
        </p:nvSpPr>
        <p:spPr>
          <a:xfrm>
            <a:off x="274320" y="3602880"/>
            <a:ext cx="8590320" cy="37908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6"/>
          <p:cNvSpPr/>
          <p:nvPr/>
        </p:nvSpPr>
        <p:spPr>
          <a:xfrm>
            <a:off x="274320" y="3831480"/>
            <a:ext cx="8590320" cy="15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4" name="Image 3" descr="preencoded.png"/>
          <p:cNvPicPr/>
          <p:nvPr/>
        </p:nvPicPr>
        <p:blipFill>
          <a:blip r:embed="rId4"/>
          <a:stretch/>
        </p:blipFill>
        <p:spPr>
          <a:xfrm>
            <a:off x="384120" y="366660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35" name="Text 17"/>
          <p:cNvSpPr/>
          <p:nvPr/>
        </p:nvSpPr>
        <p:spPr>
          <a:xfrm>
            <a:off x="685800" y="3602880"/>
            <a:ext cx="808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Modellgewichte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18"/>
          <p:cNvSpPr/>
          <p:nvPr/>
        </p:nvSpPr>
        <p:spPr>
          <a:xfrm>
            <a:off x="384120" y="4041720"/>
            <a:ext cx="837072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0"/>
          <p:cNvSpPr/>
          <p:nvPr/>
        </p:nvSpPr>
        <p:spPr>
          <a:xfrm>
            <a:off x="457200" y="4069080"/>
            <a:ext cx="822456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3c5e"/>
                </a:solidFill>
                <a:latin typeface="Calibri"/>
                <a:ea typeface="Calibri"/>
              </a:rPr>
              <a:t>Drei unabhängige Einstiegspunkte:  python main.py  ·  python -m src.automation.email_worker  ·  streamlit run app/dashboard.py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0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541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Reflexion: Projektverlauf &amp; Agile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4"/>
          <p:cNvSpPr/>
          <p:nvPr/>
        </p:nvSpPr>
        <p:spPr>
          <a:xfrm>
            <a:off x="274320" y="1005840"/>
            <a:ext cx="410976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5"/>
          <p:cNvSpPr/>
          <p:nvPr/>
        </p:nvSpPr>
        <p:spPr>
          <a:xfrm>
            <a:off x="274320" y="1005840"/>
            <a:ext cx="4109760" cy="379080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6"/>
          <p:cNvSpPr/>
          <p:nvPr/>
        </p:nvSpPr>
        <p:spPr>
          <a:xfrm>
            <a:off x="274320" y="1234440"/>
            <a:ext cx="4109760" cy="15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6" name="Image 1" descr="preencoded.png"/>
          <p:cNvPicPr/>
          <p:nvPr/>
        </p:nvPicPr>
        <p:blipFill>
          <a:blip r:embed="rId2"/>
          <a:stretch/>
        </p:blipFill>
        <p:spPr>
          <a:xfrm>
            <a:off x="384120" y="106992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47" name="Text 7"/>
          <p:cNvSpPr/>
          <p:nvPr/>
        </p:nvSpPr>
        <p:spPr>
          <a:xfrm>
            <a:off x="685800" y="1005840"/>
            <a:ext cx="3606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Was gut funktioniert hat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8"/>
          <p:cNvSpPr/>
          <p:nvPr/>
        </p:nvSpPr>
        <p:spPr>
          <a:xfrm>
            <a:off x="384120" y="1444680"/>
            <a:ext cx="3890160" cy="32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SOLID-Prinzipien → isoliertes Testen der Stufen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Transfer Learning (CNN) → erhebliche Zeitersparnis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PostgreSQL-Normalisierung → keine Redundanzprobleme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Pre-Commit-Hooks → stabile Codequalität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9"/>
          <p:cNvSpPr/>
          <p:nvPr/>
        </p:nvSpPr>
        <p:spPr>
          <a:xfrm>
            <a:off x="4526280" y="1005840"/>
            <a:ext cx="4338360" cy="3744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10"/>
          <p:cNvSpPr/>
          <p:nvPr/>
        </p:nvSpPr>
        <p:spPr>
          <a:xfrm>
            <a:off x="4526280" y="1005840"/>
            <a:ext cx="4338360" cy="37908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11"/>
          <p:cNvSpPr/>
          <p:nvPr/>
        </p:nvSpPr>
        <p:spPr>
          <a:xfrm>
            <a:off x="4526280" y="1234440"/>
            <a:ext cx="4338360" cy="15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2" name="Image 2" descr="preencoded.png"/>
          <p:cNvPicPr/>
          <p:nvPr/>
        </p:nvPicPr>
        <p:blipFill>
          <a:blip r:embed="rId3"/>
          <a:stretch/>
        </p:blipFill>
        <p:spPr>
          <a:xfrm>
            <a:off x="4636080" y="106992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53" name="Text 12"/>
          <p:cNvSpPr/>
          <p:nvPr/>
        </p:nvSpPr>
        <p:spPr>
          <a:xfrm>
            <a:off x="4937760" y="1005840"/>
            <a:ext cx="3835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Herausforderungen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4636080" y="1444680"/>
            <a:ext cx="4118760" cy="32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Multi-Head: ≥5.000 Daten nötig → synthetisch generiert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SMTP-Antwortversand noch nicht vollständig getestet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XGBoost-Tuning ohne GPU zeitaufwändig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3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"?" als Platzhalterwert konsistent behandeln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vehicle_claim bimodal → erschwert Regression,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R² ≈ 0,70 praktische Obergrenze,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mehr reale Daten erforderlich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0"/>
          <p:cNvSpPr/>
          <p:nvPr/>
        </p:nvSpPr>
        <p:spPr>
          <a:xfrm>
            <a:off x="0" y="0"/>
            <a:ext cx="9138960" cy="909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1"/>
          <p:cNvSpPr/>
          <p:nvPr/>
        </p:nvSpPr>
        <p:spPr>
          <a:xfrm>
            <a:off x="228600" y="164520"/>
            <a:ext cx="561960" cy="561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7" name="Image 0" descr="preencoded.png"/>
          <p:cNvPicPr/>
          <p:nvPr/>
        </p:nvPicPr>
        <p:blipFill>
          <a:blip r:embed="rId1"/>
          <a:stretch/>
        </p:blipFill>
        <p:spPr>
          <a:xfrm>
            <a:off x="283320" y="219600"/>
            <a:ext cx="452160" cy="452160"/>
          </a:xfrm>
          <a:prstGeom prst="rect">
            <a:avLst/>
          </a:prstGeom>
          <a:ln w="0">
            <a:noFill/>
          </a:ln>
        </p:spPr>
      </p:pic>
      <p:sp>
        <p:nvSpPr>
          <p:cNvPr id="558" name="Text 2"/>
          <p:cNvSpPr/>
          <p:nvPr/>
        </p:nvSpPr>
        <p:spPr>
          <a:xfrm>
            <a:off x="960120" y="0"/>
            <a:ext cx="776736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Was hätte man verbessern können?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"/>
          <p:cNvSpPr/>
          <p:nvPr/>
        </p:nvSpPr>
        <p:spPr>
          <a:xfrm>
            <a:off x="0" y="5029200"/>
            <a:ext cx="9138960" cy="1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"/>
          <p:cNvSpPr/>
          <p:nvPr/>
        </p:nvSpPr>
        <p:spPr>
          <a:xfrm>
            <a:off x="274320" y="1005840"/>
            <a:ext cx="8590320" cy="121104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5"/>
          <p:cNvSpPr/>
          <p:nvPr/>
        </p:nvSpPr>
        <p:spPr>
          <a:xfrm>
            <a:off x="274320" y="1005840"/>
            <a:ext cx="8590320" cy="379080"/>
          </a:xfrm>
          <a:prstGeom prst="roundRect">
            <a:avLst>
              <a:gd name="adj" fmla="val 19048"/>
            </a:avLst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Shape 6"/>
          <p:cNvSpPr/>
          <p:nvPr/>
        </p:nvSpPr>
        <p:spPr>
          <a:xfrm>
            <a:off x="274320" y="1234440"/>
            <a:ext cx="8590320" cy="150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3" name="Image 1" descr="preencoded.png"/>
          <p:cNvPicPr/>
          <p:nvPr/>
        </p:nvPicPr>
        <p:blipFill>
          <a:blip r:embed="rId2"/>
          <a:stretch/>
        </p:blipFill>
        <p:spPr>
          <a:xfrm>
            <a:off x="384120" y="106992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64" name="Text 7"/>
          <p:cNvSpPr/>
          <p:nvPr/>
        </p:nvSpPr>
        <p:spPr>
          <a:xfrm>
            <a:off x="685800" y="1005840"/>
            <a:ext cx="808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Asynchronität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8"/>
          <p:cNvSpPr/>
          <p:nvPr/>
        </p:nvSpPr>
        <p:spPr>
          <a:xfrm>
            <a:off x="384120" y="1444680"/>
            <a:ext cx="837072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Die Pipeline blockiert aktuell bei jeder Anfrage, bis alle Modelle durchgelaufen sind. Asynchrone Verarbeitung würde mehrere Anfragen parallel ermöglichen und das Dashboard reaktionsfähiger machen.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9"/>
          <p:cNvSpPr/>
          <p:nvPr/>
        </p:nvSpPr>
        <p:spPr>
          <a:xfrm>
            <a:off x="274320" y="2350080"/>
            <a:ext cx="8590320" cy="121104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0"/>
          <p:cNvSpPr/>
          <p:nvPr/>
        </p:nvSpPr>
        <p:spPr>
          <a:xfrm>
            <a:off x="274320" y="2350080"/>
            <a:ext cx="8590320" cy="37908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1"/>
          <p:cNvSpPr/>
          <p:nvPr/>
        </p:nvSpPr>
        <p:spPr>
          <a:xfrm>
            <a:off x="274320" y="2578680"/>
            <a:ext cx="8590320" cy="15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9" name="Image 2" descr="preencoded.png"/>
          <p:cNvPicPr/>
          <p:nvPr/>
        </p:nvPicPr>
        <p:blipFill>
          <a:blip r:embed="rId3"/>
          <a:stretch/>
        </p:blipFill>
        <p:spPr>
          <a:xfrm>
            <a:off x="384120" y="241416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70" name="Text 12"/>
          <p:cNvSpPr/>
          <p:nvPr/>
        </p:nvSpPr>
        <p:spPr>
          <a:xfrm>
            <a:off x="685800" y="2350080"/>
            <a:ext cx="808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Warteschlange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13"/>
          <p:cNvSpPr/>
          <p:nvPr/>
        </p:nvSpPr>
        <p:spPr>
          <a:xfrm>
            <a:off x="384120" y="2788920"/>
            <a:ext cx="837072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Der E-Mail-Worker verarbeitet Nachrichten sequenziell in einer einfachen Schleife. Eine Nachrichtenwarteschlange würde Lastspitzen abfedern und Fehlerwiederholung ermöglichen.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4"/>
          <p:cNvSpPr/>
          <p:nvPr/>
        </p:nvSpPr>
        <p:spPr>
          <a:xfrm>
            <a:off x="274320" y="3694320"/>
            <a:ext cx="8590320" cy="121104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cbd5e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5"/>
          <p:cNvSpPr/>
          <p:nvPr/>
        </p:nvSpPr>
        <p:spPr>
          <a:xfrm>
            <a:off x="274320" y="3694320"/>
            <a:ext cx="8590320" cy="379080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6"/>
          <p:cNvSpPr/>
          <p:nvPr/>
        </p:nvSpPr>
        <p:spPr>
          <a:xfrm>
            <a:off x="274320" y="3922920"/>
            <a:ext cx="8590320" cy="15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5" name="Image 3" descr="preencoded.png"/>
          <p:cNvPicPr/>
          <p:nvPr/>
        </p:nvPicPr>
        <p:blipFill>
          <a:blip r:embed="rId4"/>
          <a:stretch/>
        </p:blipFill>
        <p:spPr>
          <a:xfrm>
            <a:off x="384120" y="3758040"/>
            <a:ext cx="250920" cy="250920"/>
          </a:xfrm>
          <a:prstGeom prst="rect">
            <a:avLst/>
          </a:prstGeom>
          <a:ln w="0">
            <a:noFill/>
          </a:ln>
        </p:spPr>
      </p:pic>
      <p:sp>
        <p:nvSpPr>
          <p:cNvPr id="576" name="Text 17"/>
          <p:cNvSpPr/>
          <p:nvPr/>
        </p:nvSpPr>
        <p:spPr>
          <a:xfrm>
            <a:off x="685800" y="3694320"/>
            <a:ext cx="8087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Docker-Deployment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18"/>
          <p:cNvSpPr/>
          <p:nvPr/>
        </p:nvSpPr>
        <p:spPr>
          <a:xfrm>
            <a:off x="384120" y="4133160"/>
            <a:ext cx="837072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Dockerfile und docker-compose.yml fehlen noch im Repository. Eine vollständige Containerisierung würde das System reproduzierbar, portabel und ohne manuelle Abhängigkeitsinstallation deploybar machen.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</TotalTime>
  <Application>LibreOffice/7.6.5.2$Windows_X86_64 LibreOffice_project/38d5f62f85355c192ef5f1dd47c5c0c0c6d6598b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2026-06-24T08:28:45Z</dcterms:created>
  <dc:creator>InterGeeks</dc:creator>
  <dc:description/>
  <dc:language>de-DE</dc:language>
  <cp:lastModifiedBy/>
  <dcterms:modified xsi:type="dcterms:W3CDTF">2026-06-26T11:03:13Z</dcterms:modified>
  <cp:revision>64</cp:revision>
  <dc:subject>PptxGenJS Presentation</dc:subject>
  <dc:title>KFZ-Schadenprognose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